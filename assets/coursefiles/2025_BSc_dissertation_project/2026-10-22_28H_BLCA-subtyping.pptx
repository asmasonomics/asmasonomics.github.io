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40"/>
  </p:notesMasterIdLst>
  <p:sldIdLst>
    <p:sldId id="259" r:id="rId2"/>
    <p:sldId id="594" r:id="rId3"/>
    <p:sldId id="502" r:id="rId4"/>
    <p:sldId id="666" r:id="rId5"/>
    <p:sldId id="503" r:id="rId6"/>
    <p:sldId id="614" r:id="rId7"/>
    <p:sldId id="613" r:id="rId8"/>
    <p:sldId id="612" r:id="rId9"/>
    <p:sldId id="667" r:id="rId10"/>
    <p:sldId id="668" r:id="rId11"/>
    <p:sldId id="634" r:id="rId12"/>
    <p:sldId id="592" r:id="rId13"/>
    <p:sldId id="574" r:id="rId14"/>
    <p:sldId id="615" r:id="rId15"/>
    <p:sldId id="616" r:id="rId16"/>
    <p:sldId id="620" r:id="rId17"/>
    <p:sldId id="617" r:id="rId18"/>
    <p:sldId id="618" r:id="rId19"/>
    <p:sldId id="619" r:id="rId20"/>
    <p:sldId id="606" r:id="rId21"/>
    <p:sldId id="518" r:id="rId22"/>
    <p:sldId id="640" r:id="rId23"/>
    <p:sldId id="652" r:id="rId24"/>
    <p:sldId id="654" r:id="rId25"/>
    <p:sldId id="537" r:id="rId26"/>
    <p:sldId id="653" r:id="rId27"/>
    <p:sldId id="541" r:id="rId28"/>
    <p:sldId id="665" r:id="rId29"/>
    <p:sldId id="554" r:id="rId30"/>
    <p:sldId id="555" r:id="rId31"/>
    <p:sldId id="556" r:id="rId32"/>
    <p:sldId id="557" r:id="rId33"/>
    <p:sldId id="558" r:id="rId34"/>
    <p:sldId id="645" r:id="rId35"/>
    <p:sldId id="659" r:id="rId36"/>
    <p:sldId id="660" r:id="rId37"/>
    <p:sldId id="657" r:id="rId38"/>
    <p:sldId id="56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DE8DF26-E5E7-4FD6-90E1-88E9187DD6D4}">
          <p14:sldIdLst>
            <p14:sldId id="259"/>
          </p14:sldIdLst>
        </p14:section>
        <p14:section name="1. Unmet need" id="{0D29F0C6-4981-466F-AD49-FC5CDE7B9B6C}">
          <p14:sldIdLst>
            <p14:sldId id="594"/>
            <p14:sldId id="502"/>
            <p14:sldId id="666"/>
            <p14:sldId id="503"/>
            <p14:sldId id="614"/>
            <p14:sldId id="613"/>
            <p14:sldId id="612"/>
            <p14:sldId id="667"/>
            <p14:sldId id="668"/>
          </p14:sldIdLst>
        </p14:section>
        <p14:section name="2. Method development" id="{58BE677D-C95A-403C-A536-217EB78AE58A}">
          <p14:sldIdLst>
            <p14:sldId id="634"/>
            <p14:sldId id="592"/>
            <p14:sldId id="574"/>
            <p14:sldId id="615"/>
            <p14:sldId id="616"/>
            <p14:sldId id="620"/>
            <p14:sldId id="617"/>
            <p14:sldId id="618"/>
            <p14:sldId id="619"/>
            <p14:sldId id="606"/>
            <p14:sldId id="518"/>
            <p14:sldId id="640"/>
          </p14:sldIdLst>
        </p14:section>
        <p14:section name="3. PoC with NRF2" id="{4EE0462E-9BCD-4471-8035-5285F4FD6B08}">
          <p14:sldIdLst>
            <p14:sldId id="652"/>
            <p14:sldId id="654"/>
            <p14:sldId id="537"/>
            <p14:sldId id="653"/>
          </p14:sldIdLst>
        </p14:section>
        <p14:section name="4. More than a one hit wonder?" id="{4B1AD985-655C-4371-A631-06932C054C03}">
          <p14:sldIdLst>
            <p14:sldId id="541"/>
            <p14:sldId id="665"/>
            <p14:sldId id="554"/>
            <p14:sldId id="555"/>
            <p14:sldId id="556"/>
            <p14:sldId id="557"/>
            <p14:sldId id="558"/>
          </p14:sldIdLst>
        </p14:section>
        <p14:section name="5. Future development" id="{F1586717-D153-446C-A36E-E73B3246BD42}">
          <p14:sldIdLst>
            <p14:sldId id="645"/>
            <p14:sldId id="659"/>
            <p14:sldId id="660"/>
            <p14:sldId id="657"/>
          </p14:sldIdLst>
        </p14:section>
        <p14:section name="Acknowledgements" id="{B52FF037-B654-409C-A19A-61A65A680970}">
          <p14:sldIdLst>
            <p14:sldId id="5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C8D616-6277-6DEC-BC25-9D2F37407A24}" name="Andrew Mason" initials="AM" userId="S::andrew.mason@york.ac.uk::0ce90933-856e-4c15-bb61-60dbf605a9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00FF00"/>
    <a:srgbClr val="8B1F1D"/>
    <a:srgbClr val="F72111"/>
    <a:srgbClr val="A927F9"/>
    <a:srgbClr val="FFFFFF"/>
    <a:srgbClr val="903131"/>
    <a:srgbClr val="9494FE"/>
    <a:srgbClr val="FC4A81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4660"/>
  </p:normalViewPr>
  <p:slideViewPr>
    <p:cSldViewPr snapToGrid="0">
      <p:cViewPr varScale="1">
        <p:scale>
          <a:sx n="79" d="100"/>
          <a:sy n="79" d="100"/>
        </p:scale>
        <p:origin x="6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02ECD-017D-4383-973E-007A0F0A77A4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19486-3C53-44A9-B208-2BBEF3DC34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89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7659-906D-4CF1-AC5A-0FA0D81CC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5C18F-9FA3-45FA-A5A6-584D56755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2CAD5-E039-4EB3-870F-A9CCE82C3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A92D1-CB87-4416-8F5C-9BAA11F35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7BCC4-FB88-427A-8D13-D3A94739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53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EF0D-3037-4EBF-85C6-D069C88F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343B7-6E8D-458D-BD16-8404D298B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78ABD-6A72-476E-9098-7FB367A0C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44F67-01D0-4639-9ABA-9EF882DAE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4B516-146B-4856-8B78-69A71AC14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1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1674-F383-4E9A-931A-3E128BDB2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A83B7-070E-4178-BB17-B13F497E2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73B9E-3191-4D77-BA46-9CBCCC772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69E78-4720-4A7C-8002-2F4286A4F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8CAD3-CB08-4576-8226-2D2BC45D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50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9AAA-F2B0-4902-A753-E707B611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B1C10-84F9-40DA-97CA-25AE62850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3633E-3522-48E3-A1D6-3D8DDFC53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3A5E0-5AA1-4C21-8FA7-D93CE1452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3D93C-CB1F-4091-8C86-DC65384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B24A4-D8DF-4F9F-BD39-9F7F777C7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47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76F1-71C2-40A5-8ADB-3FFB90C03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6363-656E-4B10-B803-9F355B011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4979E-0F37-4E1F-A5BE-143F5DEFC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10428-7A33-4B96-A7FB-BF69E38762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9AF93B-B161-4FD7-96BE-4A360FF63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0FCFD-EB87-4315-8D71-89956356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CB6F2-D309-45D6-9970-62B63921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E11363-6C9B-49C1-B1A0-D734C545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655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A802-48AD-4F16-886D-ABAA78A41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20C30-35D7-49A8-9126-A7374E19D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8F23A-E1C9-4151-9927-B4ABD66C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25E0F-2FA4-467F-A3AA-F8E4D86A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8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E2B07-35AB-455E-AFC9-B59DEDED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40497C-22A8-4BFB-A12F-543ADF1EE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521D1-BD5D-4DBE-A823-3A0CB102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11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3D9C-08AF-4141-A209-F44FB884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6CC26-6B63-4DAD-B2D2-D65E65832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B8700-F612-408B-AD71-7CC956F68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D01AC-D17D-4894-A8A4-267D927D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07998-59BE-48B9-A9F4-9A65A358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786CD-5574-4EAF-A98B-A5CD8E51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47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7806-49DD-49CB-90B1-B6EC918B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729A1C-2AC2-40F2-9A23-CAD96056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7F12C-F3EC-4C88-BF65-A1F3C2E5B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F6452-7C5D-4784-AE32-533561EA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C895B-E615-4852-A0F8-4572FBBE5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57D09-02F0-4D90-9866-F975BE0D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63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B7A5-CF50-4CE6-A348-E33C608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A7013-336C-49FD-8F26-1F81D2621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9A467-04EB-4135-8C30-EEC76237F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1224F-95E3-4A21-8A25-33E43EEF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599BD-943F-4AF3-BBDD-923ABF2C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061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1636D-3353-434E-AD1A-37A8BFE25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1618B-608A-46B9-B562-0CCCD4EAF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02F09-ABC3-41AA-A056-82D56473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50E7B-8D41-49A1-9925-5CBBB704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677B-87C5-4EA4-B888-96A8BCBC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721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D36CDA-1E99-45BB-AA6C-8DCB5F07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9E503-AB75-4D34-A6B4-2EE1738AB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974E3-67D1-49F3-905A-B73B34F6A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9AFA7-ADDD-4CC0-A7B1-FDE8AABAD885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DBBC9-7767-4606-A1E7-092264F50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869AF-640B-4E25-A685-6DAC4E6CF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A1822-1E53-446A-919B-30B82F28DC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491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jpg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1831/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jp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jpeg"/><Relationship Id="rId14" Type="http://schemas.openxmlformats.org/officeDocument/2006/relationships/image" Target="../media/image7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08547F-8593-41B5-A234-EFC27EC5B4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78C90-B5F1-4E2F-9DDA-52C198B90B3F}"/>
              </a:ext>
            </a:extLst>
          </p:cNvPr>
          <p:cNvSpPr txBox="1"/>
          <p:nvPr/>
        </p:nvSpPr>
        <p:spPr>
          <a:xfrm>
            <a:off x="1241898" y="2239560"/>
            <a:ext cx="9708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chemeClr val="bg1"/>
                </a:solidFill>
              </a:rPr>
              <a:t>Subtyping in bladder cancer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567DE-9B70-4AF9-BDC8-4F27583E5B60}"/>
              </a:ext>
            </a:extLst>
          </p:cNvPr>
          <p:cNvSpPr txBox="1"/>
          <p:nvPr/>
        </p:nvSpPr>
        <p:spPr>
          <a:xfrm>
            <a:off x="8853730" y="6010313"/>
            <a:ext cx="3015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andrew.mason@york.ac.uk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D62A4F-732B-4BD7-809F-B70F54D1CF4D}"/>
              </a:ext>
            </a:extLst>
          </p:cNvPr>
          <p:cNvSpPr txBox="1"/>
          <p:nvPr/>
        </p:nvSpPr>
        <p:spPr>
          <a:xfrm>
            <a:off x="9157081" y="6305036"/>
            <a:ext cx="2712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asmasonomics.github.io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37368A-C733-4043-885C-B989D43FE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6811" y="26573"/>
            <a:ext cx="2715189" cy="1252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11A9F1-BCD4-6D12-6E3B-3749570A6C35}"/>
              </a:ext>
            </a:extLst>
          </p:cNvPr>
          <p:cNvSpPr txBox="1"/>
          <p:nvPr/>
        </p:nvSpPr>
        <p:spPr>
          <a:xfrm>
            <a:off x="6062932" y="5048366"/>
            <a:ext cx="580630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dirty="0">
                <a:solidFill>
                  <a:schemeClr val="bg1"/>
                </a:solidFill>
              </a:rPr>
              <a:t>Dr Andrew Mason</a:t>
            </a:r>
          </a:p>
          <a:p>
            <a:pPr algn="r"/>
            <a:r>
              <a:rPr lang="en-GB" sz="2400" dirty="0">
                <a:solidFill>
                  <a:schemeClr val="bg1"/>
                </a:solidFill>
              </a:rPr>
              <a:t>Lecturer in Cancer Informatics</a:t>
            </a:r>
          </a:p>
        </p:txBody>
      </p:sp>
    </p:spTree>
    <p:extLst>
      <p:ext uri="{BB962C8B-B14F-4D97-AF65-F5344CB8AC3E}">
        <p14:creationId xmlns:p14="http://schemas.microsoft.com/office/powerpoint/2010/main" val="3401098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97EB-A448-EDDD-371C-4CD51AC6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40900C-ADA7-B93D-A778-6431B32A918F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15BF6E-2B60-D91D-D5C1-BC305A7BDBDB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1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8A9944-692B-E292-9771-532861F9BA07}"/>
              </a:ext>
            </a:extLst>
          </p:cNvPr>
          <p:cNvSpPr txBox="1"/>
          <p:nvPr/>
        </p:nvSpPr>
        <p:spPr>
          <a:xfrm>
            <a:off x="297733" y="735320"/>
            <a:ext cx="1144272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Deliver personalised cancer treatment.</a:t>
            </a:r>
          </a:p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05766E-8FD9-0F9B-433D-25F3F1E99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149" y="2138011"/>
            <a:ext cx="6159235" cy="3667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439AF2-3E09-7506-6011-B72BAEF7A0DA}"/>
              </a:ext>
            </a:extLst>
          </p:cNvPr>
          <p:cNvSpPr txBox="1"/>
          <p:nvPr/>
        </p:nvSpPr>
        <p:spPr>
          <a:xfrm>
            <a:off x="616868" y="5946909"/>
            <a:ext cx="11442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There are drugs that work </a:t>
            </a:r>
            <a:r>
              <a:rPr lang="en-GB" sz="2000" dirty="0"/>
              <a:t>– but we need to find ways to specifically identify the right patients</a:t>
            </a:r>
            <a:endParaRPr lang="en-GB" sz="20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27DA85-0F07-07D7-7E1E-29813AD09E83}"/>
              </a:ext>
            </a:extLst>
          </p:cNvPr>
          <p:cNvSpPr/>
          <p:nvPr/>
        </p:nvSpPr>
        <p:spPr>
          <a:xfrm>
            <a:off x="5017593" y="2249453"/>
            <a:ext cx="2003898" cy="700391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C1F070-9484-DAC5-6654-D3132C3984A8}"/>
              </a:ext>
            </a:extLst>
          </p:cNvPr>
          <p:cNvSpPr/>
          <p:nvPr/>
        </p:nvSpPr>
        <p:spPr>
          <a:xfrm>
            <a:off x="5017593" y="3582144"/>
            <a:ext cx="2003898" cy="437743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A2676D-7B6D-B1DF-F5B3-7BB13CDB712B}"/>
              </a:ext>
            </a:extLst>
          </p:cNvPr>
          <p:cNvSpPr txBox="1"/>
          <p:nvPr/>
        </p:nvSpPr>
        <p:spPr>
          <a:xfrm>
            <a:off x="616868" y="1395279"/>
            <a:ext cx="11442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We’re currently not very good at doing this first time, and every delay matters to patient outcome.</a:t>
            </a:r>
          </a:p>
        </p:txBody>
      </p:sp>
    </p:spTree>
    <p:extLst>
      <p:ext uri="{BB962C8B-B14F-4D97-AF65-F5344CB8AC3E}">
        <p14:creationId xmlns:p14="http://schemas.microsoft.com/office/powerpoint/2010/main" val="42272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6A5C-CB24-9C86-D3BF-4A0C4039C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32E9C0-DF64-0D41-8234-BBC2A2D46108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DF416-FC75-D7EF-9AAC-6C68EAD3BC98}"/>
              </a:ext>
            </a:extLst>
          </p:cNvPr>
          <p:cNvSpPr txBox="1"/>
          <p:nvPr/>
        </p:nvSpPr>
        <p:spPr>
          <a:xfrm>
            <a:off x="0" y="32702"/>
            <a:ext cx="9394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Urothelial carcinoma is a diverse disease without clear subtypes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93F1DA-9F1F-4D2F-1C7D-1710886F9A73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3" name="Picture 2" descr="Diagram of urinary tract showing urothelial carcinoma locations">
            <a:extLst>
              <a:ext uri="{FF2B5EF4-FFF2-40B4-BE49-F238E27FC236}">
                <a16:creationId xmlns:a16="http://schemas.microsoft.com/office/drawing/2014/main" id="{0A89A656-F572-F306-051B-7ADC24DA3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23" y="1002267"/>
            <a:ext cx="3818060" cy="4853466"/>
          </a:xfrm>
          <a:prstGeom prst="rect">
            <a:avLst/>
          </a:prstGeom>
        </p:spPr>
      </p:pic>
      <p:sp>
        <p:nvSpPr>
          <p:cNvPr id="6" name="AutoShape 2" descr="undefined">
            <a:extLst>
              <a:ext uri="{FF2B5EF4-FFF2-40B4-BE49-F238E27FC236}">
                <a16:creationId xmlns:a16="http://schemas.microsoft.com/office/drawing/2014/main" id="{99FBC6EB-6ED5-BD81-A4EE-77F7FAD128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5748" y="361706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82F4D-5497-41F0-CC19-A3F38658DE92}"/>
              </a:ext>
            </a:extLst>
          </p:cNvPr>
          <p:cNvSpPr txBox="1"/>
          <p:nvPr/>
        </p:nvSpPr>
        <p:spPr>
          <a:xfrm>
            <a:off x="5038746" y="1171519"/>
            <a:ext cx="5295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Very high mutational burden (TMB) and diverse driver genes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98D81A-6DAD-6D65-1E44-D1BFAFE4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223" y="1633073"/>
            <a:ext cx="5470290" cy="23655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1F389EB-600F-BBC0-582A-7D1CFE8E6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9703" y="1043181"/>
            <a:ext cx="720474" cy="39569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D87991-2FFB-420C-3549-CA9A68FF5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746" y="4417416"/>
            <a:ext cx="5718870" cy="16335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0552C0C-31F7-354D-50E9-08321400BB9C}"/>
              </a:ext>
            </a:extLst>
          </p:cNvPr>
          <p:cNvSpPr txBox="1"/>
          <p:nvPr/>
        </p:nvSpPr>
        <p:spPr>
          <a:xfrm>
            <a:off x="5163036" y="4045693"/>
            <a:ext cx="5295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Lots of driver gene co-occurrence </a:t>
            </a:r>
            <a:r>
              <a:rPr lang="en-GB" sz="1200" dirty="0">
                <a:sym typeface="Wingdings" panose="05000000000000000000" pitchFamily="2" charset="2"/>
              </a:rPr>
              <a:t></a:t>
            </a:r>
            <a:r>
              <a:rPr lang="en-GB" sz="1600" dirty="0">
                <a:sym typeface="Wingdings" panose="05000000000000000000" pitchFamily="2" charset="2"/>
              </a:rPr>
              <a:t> no clear groups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8298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B4766-33D4-AAAD-B827-7E423F27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083AB4-B2FF-4A0C-18DA-DDB463777531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30FBE-BF52-992F-862B-2FDB789BBF8C}"/>
              </a:ext>
            </a:extLst>
          </p:cNvPr>
          <p:cNvSpPr txBox="1"/>
          <p:nvPr/>
        </p:nvSpPr>
        <p:spPr>
          <a:xfrm>
            <a:off x="0" y="32702"/>
            <a:ext cx="713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Lots of potential targets, but very few successes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B183F-675F-FF32-23C3-80254F9AED7A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3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3FE5BA-1BEA-E9D5-5A3F-CA556E2FE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8"/>
          <a:stretch>
            <a:fillRect/>
          </a:stretch>
        </p:blipFill>
        <p:spPr>
          <a:xfrm>
            <a:off x="1195692" y="704277"/>
            <a:ext cx="9709016" cy="615372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4BA000-180A-D8E2-723E-E801965E1E6D}"/>
              </a:ext>
            </a:extLst>
          </p:cNvPr>
          <p:cNvSpPr/>
          <p:nvPr/>
        </p:nvSpPr>
        <p:spPr>
          <a:xfrm>
            <a:off x="787670" y="2862131"/>
            <a:ext cx="10301235" cy="1523977"/>
          </a:xfrm>
          <a:prstGeom prst="round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Patient selection is a big problem – can we detect subgroups who will respond?</a:t>
            </a:r>
          </a:p>
        </p:txBody>
      </p:sp>
    </p:spTree>
    <p:extLst>
      <p:ext uri="{BB962C8B-B14F-4D97-AF65-F5344CB8AC3E}">
        <p14:creationId xmlns:p14="http://schemas.microsoft.com/office/powerpoint/2010/main" val="269053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3FF16-2620-5073-4510-EF2E62BE8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64AEC-71EF-6270-DEDA-CF5D251A481F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7244E-54F5-2261-AAAF-9CAB35E01F4D}"/>
              </a:ext>
            </a:extLst>
          </p:cNvPr>
          <p:cNvSpPr txBox="1"/>
          <p:nvPr/>
        </p:nvSpPr>
        <p:spPr>
          <a:xfrm>
            <a:off x="0" y="32702"/>
            <a:ext cx="11009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Gene expression subtypes could only describe - the clinical links were weak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5C4462-E899-5301-1443-C19392369783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4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34F6C-260A-E109-5F8B-456CA20F87A4}"/>
              </a:ext>
            </a:extLst>
          </p:cNvPr>
          <p:cNvSpPr txBox="1"/>
          <p:nvPr/>
        </p:nvSpPr>
        <p:spPr>
          <a:xfrm>
            <a:off x="297733" y="735320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with many cancers, BLCA research focused on gene expression profiles in the 2010s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BBC554-5708-BED6-3C8E-E5FB4C84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29" y="1938468"/>
            <a:ext cx="6496095" cy="928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B96A92-DC9C-84E7-A016-B46A90CF0F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061"/>
          <a:stretch/>
        </p:blipFill>
        <p:spPr>
          <a:xfrm>
            <a:off x="212759" y="3108501"/>
            <a:ext cx="6501935" cy="11962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024C1C-261E-5B4E-5EA9-B4099616C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041" y="3795284"/>
            <a:ext cx="3505200" cy="24935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1C3963-3178-E2DC-54F7-948DEAACE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83" y="4636213"/>
            <a:ext cx="4054809" cy="11712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691F84-F667-C3E7-2734-03B35C0E1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6724" y="1944806"/>
            <a:ext cx="4054810" cy="13025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B26328-1F7D-4E15-277A-C65518488A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0459" y="4636213"/>
            <a:ext cx="3891049" cy="105462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22AB1F7-AE1D-4E1F-BF80-3BE94CC72D07}"/>
              </a:ext>
            </a:extLst>
          </p:cNvPr>
          <p:cNvSpPr txBox="1"/>
          <p:nvPr/>
        </p:nvSpPr>
        <p:spPr>
          <a:xfrm>
            <a:off x="297733" y="1105999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Standard approach </a:t>
            </a:r>
            <a:r>
              <a:rPr lang="en-GB" sz="1400" dirty="0"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retain “most variable” genes, dimension reduction, most parsimonious number of groups </a:t>
            </a:r>
            <a:endParaRPr lang="en-GB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9F128A93-6FC6-F4BE-F786-D6BAD44220AC}"/>
              </a:ext>
            </a:extLst>
          </p:cNvPr>
          <p:cNvSpPr/>
          <p:nvPr/>
        </p:nvSpPr>
        <p:spPr>
          <a:xfrm>
            <a:off x="10008158" y="3888712"/>
            <a:ext cx="311499" cy="277251"/>
          </a:xfrm>
          <a:prstGeom prst="star5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98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5B65-8E61-96D6-6590-8F26C5EC9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B085F4-0B0C-0864-0DF2-0E343E85D03D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49C0C-BAC5-F83A-A272-933D700934C4}"/>
              </a:ext>
            </a:extLst>
          </p:cNvPr>
          <p:cNvSpPr txBox="1"/>
          <p:nvPr/>
        </p:nvSpPr>
        <p:spPr>
          <a:xfrm>
            <a:off x="0" y="32702"/>
            <a:ext cx="11009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Gene expression subtypes could only describe - the clinical links were weak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F4C1F6-3B00-E24C-F991-CE302E34A79D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5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F7ECA-248C-DC37-DE67-0F8E4E61CE35}"/>
              </a:ext>
            </a:extLst>
          </p:cNvPr>
          <p:cNvSpPr txBox="1"/>
          <p:nvPr/>
        </p:nvSpPr>
        <p:spPr>
          <a:xfrm>
            <a:off x="297733" y="735320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with many cancers, BLCA research focused on gene expression profiles in the 2010s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DBDFD0-215B-6E05-27D3-98C326DEAFEA}"/>
              </a:ext>
            </a:extLst>
          </p:cNvPr>
          <p:cNvSpPr txBox="1"/>
          <p:nvPr/>
        </p:nvSpPr>
        <p:spPr>
          <a:xfrm>
            <a:off x="297733" y="1105999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Standard approach </a:t>
            </a:r>
            <a:r>
              <a:rPr lang="en-GB" sz="1400" dirty="0"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retain “most variable” genes, dimension reduction, most parsimonious number of groups 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96CA8-A70E-4FD2-942C-A11E26082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82" y="2017404"/>
            <a:ext cx="7069964" cy="4560422"/>
          </a:xfrm>
          <a:prstGeom prst="rect">
            <a:avLst/>
          </a:prstGeom>
        </p:spPr>
      </p:pic>
      <p:pic>
        <p:nvPicPr>
          <p:cNvPr id="9" name="Picture 2" descr="Figure thumbnail gr2">
            <a:extLst>
              <a:ext uri="{FF2B5EF4-FFF2-40B4-BE49-F238E27FC236}">
                <a16:creationId xmlns:a16="http://schemas.microsoft.com/office/drawing/2014/main" id="{DC8B4AFC-92B0-5CC0-DB06-D7A1A1BC1E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" r="87211" b="89403"/>
          <a:stretch/>
        </p:blipFill>
        <p:spPr bwMode="auto">
          <a:xfrm>
            <a:off x="8210331" y="2808537"/>
            <a:ext cx="962828" cy="63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AC0A87-6AF6-6CB0-9B28-780ACECEF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330" y="3672817"/>
            <a:ext cx="2376124" cy="36512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68A32AD-D266-604B-0976-0ACCFA77D79C}"/>
              </a:ext>
            </a:extLst>
          </p:cNvPr>
          <p:cNvGrpSpPr/>
          <p:nvPr/>
        </p:nvGrpSpPr>
        <p:grpSpPr>
          <a:xfrm>
            <a:off x="8311053" y="4266551"/>
            <a:ext cx="2157530" cy="2176727"/>
            <a:chOff x="9256777" y="2043302"/>
            <a:chExt cx="1935544" cy="2005447"/>
          </a:xfrm>
        </p:grpSpPr>
        <p:pic>
          <p:nvPicPr>
            <p:cNvPr id="14" name="Picture 4" descr="https://ars.els-cdn.com/content/image/1-s2.0-S0092867417310565-figs4_lrg.jpg">
              <a:extLst>
                <a:ext uri="{FF2B5EF4-FFF2-40B4-BE49-F238E27FC236}">
                  <a16:creationId xmlns:a16="http://schemas.microsoft.com/office/drawing/2014/main" id="{5715ACAD-3EA2-E69C-0E11-C3B35F331C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330" b="77442"/>
            <a:stretch/>
          </p:blipFill>
          <p:spPr bwMode="auto">
            <a:xfrm>
              <a:off x="9317248" y="2116432"/>
              <a:ext cx="1875073" cy="1932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B740CDD-A08D-785E-D651-60EF241D5B61}"/>
                </a:ext>
              </a:extLst>
            </p:cNvPr>
            <p:cNvSpPr/>
            <p:nvPr/>
          </p:nvSpPr>
          <p:spPr>
            <a:xfrm>
              <a:off x="9256777" y="2043302"/>
              <a:ext cx="267684" cy="3319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78ACCE7-4BC1-D3FC-906D-F747404C4CF9}"/>
              </a:ext>
            </a:extLst>
          </p:cNvPr>
          <p:cNvSpPr txBox="1"/>
          <p:nvPr/>
        </p:nvSpPr>
        <p:spPr>
          <a:xfrm>
            <a:off x="297733" y="1483879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Biggest single study in The Cancer Genome Atlas (TCGA) included some human “involvement” (Lum group).</a:t>
            </a:r>
          </a:p>
        </p:txBody>
      </p:sp>
    </p:spTree>
    <p:extLst>
      <p:ext uri="{BB962C8B-B14F-4D97-AF65-F5344CB8AC3E}">
        <p14:creationId xmlns:p14="http://schemas.microsoft.com/office/powerpoint/2010/main" val="180684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9443-C618-1D23-C96A-8D7DB64C1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F3E9D8-C35C-7518-0AC4-DFF2C607EE54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273A8-F8A1-CF9A-0837-4B5A2BD81559}"/>
              </a:ext>
            </a:extLst>
          </p:cNvPr>
          <p:cNvSpPr txBox="1"/>
          <p:nvPr/>
        </p:nvSpPr>
        <p:spPr>
          <a:xfrm>
            <a:off x="0" y="32702"/>
            <a:ext cx="11009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Gene expression subtypes could only describe - the clinical links were weak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CF52D4-6DD3-9DC8-AE4E-CACECAA45C89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6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87E6A-CE9B-0A35-DAEE-B1DFE045C63A}"/>
              </a:ext>
            </a:extLst>
          </p:cNvPr>
          <p:cNvSpPr txBox="1"/>
          <p:nvPr/>
        </p:nvSpPr>
        <p:spPr>
          <a:xfrm>
            <a:off x="297733" y="735320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with many cancers, BLCA research focused on gene expression profiles in the 2010s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BE0EC1-37B9-98BD-819D-E6FB563C5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73" y="2609069"/>
            <a:ext cx="3758016" cy="16398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1693190-8088-B05F-E62E-78C584A4C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323" y="2342213"/>
            <a:ext cx="5847944" cy="451578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2639287-A3B4-55E1-F371-A3739160C825}"/>
              </a:ext>
            </a:extLst>
          </p:cNvPr>
          <p:cNvSpPr/>
          <p:nvPr/>
        </p:nvSpPr>
        <p:spPr>
          <a:xfrm>
            <a:off x="5759584" y="6257839"/>
            <a:ext cx="3082858" cy="600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D51C80-91F5-BA23-BFDD-9C9F575F0DD6}"/>
              </a:ext>
            </a:extLst>
          </p:cNvPr>
          <p:cNvSpPr txBox="1"/>
          <p:nvPr/>
        </p:nvSpPr>
        <p:spPr>
          <a:xfrm>
            <a:off x="297733" y="1105999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Standard approach </a:t>
            </a:r>
            <a:r>
              <a:rPr lang="en-GB" sz="1400" dirty="0"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retain “most variable” genes, dimension reduction, most parsimonious number of groups 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3BCADB-4ED7-7186-433F-6C72B13CF7C8}"/>
              </a:ext>
            </a:extLst>
          </p:cNvPr>
          <p:cNvSpPr txBox="1"/>
          <p:nvPr/>
        </p:nvSpPr>
        <p:spPr>
          <a:xfrm>
            <a:off x="297733" y="1483879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Biggest single study in The Cancer Genome Atlas (TCGA) included some human “involvement” (Lum group).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7E3065-850F-0937-40BC-3A8E45B1442F}"/>
              </a:ext>
            </a:extLst>
          </p:cNvPr>
          <p:cNvSpPr txBox="1"/>
          <p:nvPr/>
        </p:nvSpPr>
        <p:spPr>
          <a:xfrm>
            <a:off x="297733" y="1853211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Consensus effort harmonised labels, rather than deriving groups from scratch</a:t>
            </a:r>
          </a:p>
        </p:txBody>
      </p:sp>
    </p:spTree>
    <p:extLst>
      <p:ext uri="{BB962C8B-B14F-4D97-AF65-F5344CB8AC3E}">
        <p14:creationId xmlns:p14="http://schemas.microsoft.com/office/powerpoint/2010/main" val="2403254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A755-557F-4D88-4145-F9BB56CE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2C8547-0367-E81E-C8A2-1583170E8230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8A1C2-906C-6CC2-014A-0D7DF6565794}"/>
              </a:ext>
            </a:extLst>
          </p:cNvPr>
          <p:cNvSpPr txBox="1"/>
          <p:nvPr/>
        </p:nvSpPr>
        <p:spPr>
          <a:xfrm>
            <a:off x="0" y="32702"/>
            <a:ext cx="11009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Gene expression subtypes could only describe - the clinical links were weak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9E3930-C31D-E2C0-42D5-D68C4C3A8E86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7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9068C-EF3A-9BCB-ACA2-A4ED951D6BB8}"/>
              </a:ext>
            </a:extLst>
          </p:cNvPr>
          <p:cNvSpPr txBox="1"/>
          <p:nvPr/>
        </p:nvSpPr>
        <p:spPr>
          <a:xfrm>
            <a:off x="297733" y="735320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with many cancers, BLCA research focused on gene expression profiles in the 2010s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54008C-5399-1354-BA29-A0B0449D36AE}"/>
              </a:ext>
            </a:extLst>
          </p:cNvPr>
          <p:cNvSpPr txBox="1"/>
          <p:nvPr/>
        </p:nvSpPr>
        <p:spPr>
          <a:xfrm>
            <a:off x="297733" y="1105999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Standard approach </a:t>
            </a:r>
            <a:r>
              <a:rPr lang="en-GB" sz="1400" dirty="0"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retain “most variable” genes, dimension reduction, most parsimonious number of groups 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12CCB9-4DF0-0959-E3F6-4BE95B4EC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307382"/>
            <a:ext cx="7033098" cy="451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FB42FC-F3D5-FD93-2AAB-B1ECB7EA762C}"/>
              </a:ext>
            </a:extLst>
          </p:cNvPr>
          <p:cNvSpPr txBox="1"/>
          <p:nvPr/>
        </p:nvSpPr>
        <p:spPr>
          <a:xfrm>
            <a:off x="297733" y="1483879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Biggest single study in The Cancer Genome Atlas (TCGA) included some human “involvement” (Lum group).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BBA48-4D67-9580-5453-2719815399D0}"/>
              </a:ext>
            </a:extLst>
          </p:cNvPr>
          <p:cNvSpPr txBox="1"/>
          <p:nvPr/>
        </p:nvSpPr>
        <p:spPr>
          <a:xfrm>
            <a:off x="297733" y="1853211"/>
            <a:ext cx="1144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Consensus effort harmonised labels, rather than deriving groups from scratch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D25FA42-2E0A-8EB8-E732-EDE05AFCB41E}"/>
              </a:ext>
            </a:extLst>
          </p:cNvPr>
          <p:cNvSpPr/>
          <p:nvPr/>
        </p:nvSpPr>
        <p:spPr>
          <a:xfrm>
            <a:off x="3112851" y="4299626"/>
            <a:ext cx="1147864" cy="554476"/>
          </a:xfrm>
          <a:prstGeom prst="ellipse">
            <a:avLst/>
          </a:prstGeom>
          <a:noFill/>
          <a:ln w="76200"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74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EF1C-723B-4805-3ED3-3C4F8D9A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C00BFE-27F8-2E7C-733D-A53F239F0B32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CB6CE-9B33-BB28-293D-9D866477B87E}"/>
              </a:ext>
            </a:extLst>
          </p:cNvPr>
          <p:cNvSpPr txBox="1"/>
          <p:nvPr/>
        </p:nvSpPr>
        <p:spPr>
          <a:xfrm>
            <a:off x="0" y="32702"/>
            <a:ext cx="6049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Consensus? You forget we’re academics.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02622-E4B4-5878-529D-C0476BD3AD49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8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FEDE1-6FD2-FAE4-09B2-551479B4A340}"/>
              </a:ext>
            </a:extLst>
          </p:cNvPr>
          <p:cNvSpPr txBox="1"/>
          <p:nvPr/>
        </p:nvSpPr>
        <p:spPr>
          <a:xfrm>
            <a:off x="1060315" y="4034664"/>
            <a:ext cx="325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A68248-6ED8-68E0-FA83-625458F8B774}"/>
              </a:ext>
            </a:extLst>
          </p:cNvPr>
          <p:cNvSpPr/>
          <p:nvPr/>
        </p:nvSpPr>
        <p:spPr>
          <a:xfrm>
            <a:off x="5759584" y="6257839"/>
            <a:ext cx="3082858" cy="600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BC214-9903-78B0-96A1-5E87220B5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014" y="1309380"/>
            <a:ext cx="7540986" cy="4614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5B7B19-4824-D89F-5EA3-576F385BD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4010"/>
            <a:ext cx="4512814" cy="209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68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AA6C-2041-3FC3-947E-A3ADD8625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AF2D43-761C-91DF-9DCE-6001089332BA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E0877-1D05-FEDD-CA98-E91780E10A67}"/>
              </a:ext>
            </a:extLst>
          </p:cNvPr>
          <p:cNvSpPr txBox="1"/>
          <p:nvPr/>
        </p:nvSpPr>
        <p:spPr>
          <a:xfrm>
            <a:off x="0" y="32702"/>
            <a:ext cx="6421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Consensus? You forget we’re academics (ii)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9445CC-A6D4-4093-A982-ED07429B91AC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9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2E1BA0-D210-7BC0-92E7-B2C3A4B302AF}"/>
              </a:ext>
            </a:extLst>
          </p:cNvPr>
          <p:cNvSpPr txBox="1"/>
          <p:nvPr/>
        </p:nvSpPr>
        <p:spPr>
          <a:xfrm>
            <a:off x="330272" y="1965278"/>
            <a:ext cx="2694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Much more honest, shows their working and brings in histological validation, but still poor association with druggable targets or clinical outcomes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A3624C-D0EA-7BD7-309D-616C7E20FDC9}"/>
              </a:ext>
            </a:extLst>
          </p:cNvPr>
          <p:cNvSpPr/>
          <p:nvPr/>
        </p:nvSpPr>
        <p:spPr>
          <a:xfrm>
            <a:off x="5759584" y="6257839"/>
            <a:ext cx="3082858" cy="600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DF57B3-A9F6-0DF8-687E-A582B10FEE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75"/>
          <a:stretch>
            <a:fillRect/>
          </a:stretch>
        </p:blipFill>
        <p:spPr>
          <a:xfrm>
            <a:off x="3109899" y="613910"/>
            <a:ext cx="8992770" cy="621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03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CE57E-9473-B679-9130-8870FB04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B440F2-B17D-7240-8D6B-81A4074130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5228D-AA1C-1FFD-A613-4A5ADD1B08E9}"/>
              </a:ext>
            </a:extLst>
          </p:cNvPr>
          <p:cNvSpPr txBox="1"/>
          <p:nvPr/>
        </p:nvSpPr>
        <p:spPr>
          <a:xfrm>
            <a:off x="1241898" y="2541123"/>
            <a:ext cx="97082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solidFill>
                  <a:schemeClr val="bg1"/>
                </a:solidFill>
              </a:rPr>
              <a:t>Has cancer subtyping been made more difficult by focusing on cancer?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D9AF10-D09F-AD07-BA75-AAED7AD9906E}"/>
              </a:ext>
            </a:extLst>
          </p:cNvPr>
          <p:cNvSpPr txBox="1"/>
          <p:nvPr/>
        </p:nvSpPr>
        <p:spPr>
          <a:xfrm>
            <a:off x="5431395" y="1767122"/>
            <a:ext cx="1329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--- 2 ---</a:t>
            </a:r>
          </a:p>
        </p:txBody>
      </p:sp>
    </p:spTree>
    <p:extLst>
      <p:ext uri="{BB962C8B-B14F-4D97-AF65-F5344CB8AC3E}">
        <p14:creationId xmlns:p14="http://schemas.microsoft.com/office/powerpoint/2010/main" val="409812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6C7FB-E23D-9DAA-F128-D5806F1B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F2FE70-0823-6BB0-E1B9-AFE6EF8F51E7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4D73F-4BE7-28F0-DCE7-12663CA184F5}"/>
              </a:ext>
            </a:extLst>
          </p:cNvPr>
          <p:cNvSpPr txBox="1"/>
          <p:nvPr/>
        </p:nvSpPr>
        <p:spPr>
          <a:xfrm>
            <a:off x="0" y="32702"/>
            <a:ext cx="8327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Tumours are very data rich – surely the answer is there?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8C152-69CD-C74F-5FDA-62275B719925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11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BE60394-D89A-FFB6-9AFB-FE786D420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874" y="959234"/>
            <a:ext cx="9778439" cy="4493807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4316E9F-0525-B2EA-12D4-B2253A814669}"/>
              </a:ext>
            </a:extLst>
          </p:cNvPr>
          <p:cNvSpPr/>
          <p:nvPr/>
        </p:nvSpPr>
        <p:spPr>
          <a:xfrm>
            <a:off x="5301574" y="3479049"/>
            <a:ext cx="1060315" cy="27237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E5A217-7EF7-B2B2-AE78-20D11A11F29C}"/>
              </a:ext>
            </a:extLst>
          </p:cNvPr>
          <p:cNvSpPr/>
          <p:nvPr/>
        </p:nvSpPr>
        <p:spPr>
          <a:xfrm>
            <a:off x="2457855" y="1423270"/>
            <a:ext cx="1520758" cy="27561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A27C121-FF79-0C0E-FE81-EB58006D46E1}"/>
              </a:ext>
            </a:extLst>
          </p:cNvPr>
          <p:cNvSpPr/>
          <p:nvPr/>
        </p:nvSpPr>
        <p:spPr>
          <a:xfrm>
            <a:off x="8417670" y="1809134"/>
            <a:ext cx="1416994" cy="804155"/>
          </a:xfrm>
          <a:prstGeom prst="roundRect">
            <a:avLst/>
          </a:prstGeom>
          <a:noFill/>
          <a:ln w="28575">
            <a:solidFill>
              <a:srgbClr val="A927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384088B-BA8B-D2B7-78CA-5636DD9D285B}"/>
              </a:ext>
            </a:extLst>
          </p:cNvPr>
          <p:cNvSpPr/>
          <p:nvPr/>
        </p:nvSpPr>
        <p:spPr>
          <a:xfrm>
            <a:off x="8417670" y="3845458"/>
            <a:ext cx="1134892" cy="350197"/>
          </a:xfrm>
          <a:prstGeom prst="roundRect">
            <a:avLst/>
          </a:prstGeom>
          <a:noFill/>
          <a:ln w="28575">
            <a:solidFill>
              <a:srgbClr val="A927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DF7FC79-58EC-C077-97C9-A2990DF9F218}"/>
              </a:ext>
            </a:extLst>
          </p:cNvPr>
          <p:cNvSpPr/>
          <p:nvPr/>
        </p:nvSpPr>
        <p:spPr>
          <a:xfrm>
            <a:off x="8417670" y="4658977"/>
            <a:ext cx="1689368" cy="350197"/>
          </a:xfrm>
          <a:prstGeom prst="roundRect">
            <a:avLst/>
          </a:prstGeom>
          <a:noFill/>
          <a:ln w="28575">
            <a:solidFill>
              <a:srgbClr val="A927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500C56-8D71-A660-9320-A09DB3F8319A}"/>
              </a:ext>
            </a:extLst>
          </p:cNvPr>
          <p:cNvSpPr txBox="1"/>
          <p:nvPr/>
        </p:nvSpPr>
        <p:spPr>
          <a:xfrm>
            <a:off x="518226" y="5566279"/>
            <a:ext cx="11442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People tend to </a:t>
            </a:r>
            <a:r>
              <a:rPr lang="en-GB" sz="2400" dirty="0">
                <a:solidFill>
                  <a:srgbClr val="FF0000"/>
                </a:solidFill>
              </a:rPr>
              <a:t>cluster with one of these </a:t>
            </a:r>
            <a:r>
              <a:rPr lang="en-GB" sz="2400" dirty="0"/>
              <a:t>and </a:t>
            </a:r>
            <a:r>
              <a:rPr lang="en-GB" sz="2400" dirty="0">
                <a:solidFill>
                  <a:srgbClr val="A927F9"/>
                </a:solidFill>
              </a:rPr>
              <a:t>then correlate with these</a:t>
            </a:r>
            <a:r>
              <a:rPr lang="en-GB" sz="2400" dirty="0"/>
              <a:t>.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04BF2B-6AA5-15F0-A034-E2E201C9A95D}"/>
              </a:ext>
            </a:extLst>
          </p:cNvPr>
          <p:cNvSpPr txBox="1"/>
          <p:nvPr/>
        </p:nvSpPr>
        <p:spPr>
          <a:xfrm>
            <a:off x="518226" y="6040406"/>
            <a:ext cx="11442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 high TMB, high driver diversity cancers like bladder, RNAseq likely most informative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159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7" grpId="0" animBg="1"/>
      <p:bldP spid="39" grpId="0" animBg="1"/>
      <p:bldP spid="41" grpId="0" animBg="1"/>
      <p:bldP spid="43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28817-6168-063D-CCEF-792F021B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47E22-D166-836A-04E4-066CC872214B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4B10D-3838-6615-8D7C-A59A0A1A44A8}"/>
              </a:ext>
            </a:extLst>
          </p:cNvPr>
          <p:cNvSpPr txBox="1"/>
          <p:nvPr/>
        </p:nvSpPr>
        <p:spPr>
          <a:xfrm>
            <a:off x="0" y="32702"/>
            <a:ext cx="10693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The standard approach for unsupervised stratification of cancer samples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9C525D-73C8-AEDC-E9D2-7BE6203E0A6D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12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9631B5C-88E1-9887-7FF2-884015F1DF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6" r="50612"/>
          <a:stretch>
            <a:fillRect/>
          </a:stretch>
        </p:blipFill>
        <p:spPr bwMode="auto">
          <a:xfrm>
            <a:off x="379377" y="860892"/>
            <a:ext cx="2052537" cy="536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B7B5E1-A362-E2CD-FDBE-1C15F9F5D1CF}"/>
              </a:ext>
            </a:extLst>
          </p:cNvPr>
          <p:cNvSpPr txBox="1"/>
          <p:nvPr/>
        </p:nvSpPr>
        <p:spPr>
          <a:xfrm>
            <a:off x="2733473" y="3311642"/>
            <a:ext cx="5339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can be done in 15 lines of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117D7-1D1F-1E1E-0B53-9A21C950F23F}"/>
              </a:ext>
            </a:extLst>
          </p:cNvPr>
          <p:cNvSpPr/>
          <p:nvPr/>
        </p:nvSpPr>
        <p:spPr>
          <a:xfrm>
            <a:off x="2538919" y="1877438"/>
            <a:ext cx="87549" cy="3463047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45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E9842-B369-6AE1-A4E8-533E3BA2E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46D6A7-F0A0-5C92-29C8-2A056FA47688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2E3DC-17C7-5933-A25B-E46A40D6B49B}"/>
              </a:ext>
            </a:extLst>
          </p:cNvPr>
          <p:cNvSpPr txBox="1"/>
          <p:nvPr/>
        </p:nvSpPr>
        <p:spPr>
          <a:xfrm>
            <a:off x="0" y="32702"/>
            <a:ext cx="10693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The standard approach for unsupervised stratification of cancer samples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118824-564C-C074-EF5B-DA977DE8A822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13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6419104-9693-564E-4799-54C4468506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6" r="50612"/>
          <a:stretch>
            <a:fillRect/>
          </a:stretch>
        </p:blipFill>
        <p:spPr bwMode="auto">
          <a:xfrm>
            <a:off x="379377" y="860892"/>
            <a:ext cx="2052537" cy="536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iagram of urinary tract showing urothelial carcinoma locations">
            <a:extLst>
              <a:ext uri="{FF2B5EF4-FFF2-40B4-BE49-F238E27FC236}">
                <a16:creationId xmlns:a16="http://schemas.microsoft.com/office/drawing/2014/main" id="{54F9A5C5-4B43-8C1E-0C48-175ED4431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03" t="67965" r="46577" b="19007"/>
          <a:stretch>
            <a:fillRect/>
          </a:stretch>
        </p:blipFill>
        <p:spPr>
          <a:xfrm>
            <a:off x="4085617" y="856029"/>
            <a:ext cx="2315183" cy="236382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580DC2F-4BF7-0E92-CE98-29B8D6374F2D}"/>
              </a:ext>
            </a:extLst>
          </p:cNvPr>
          <p:cNvSpPr/>
          <p:nvPr/>
        </p:nvSpPr>
        <p:spPr>
          <a:xfrm>
            <a:off x="5560975" y="2055696"/>
            <a:ext cx="272375" cy="273600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1A0D4E-B5A1-9D8B-5140-25F0323716A9}"/>
              </a:ext>
            </a:extLst>
          </p:cNvPr>
          <p:cNvSpPr/>
          <p:nvPr/>
        </p:nvSpPr>
        <p:spPr>
          <a:xfrm>
            <a:off x="5629070" y="2507307"/>
            <a:ext cx="272375" cy="273600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8E76B7-72D2-A507-0677-C3218FDCDA9D}"/>
              </a:ext>
            </a:extLst>
          </p:cNvPr>
          <p:cNvSpPr/>
          <p:nvPr/>
        </p:nvSpPr>
        <p:spPr>
          <a:xfrm>
            <a:off x="6018182" y="2401297"/>
            <a:ext cx="272375" cy="273600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C15969-F2E8-3C4F-2D29-CB4B3E97127B}"/>
              </a:ext>
            </a:extLst>
          </p:cNvPr>
          <p:cNvSpPr txBox="1"/>
          <p:nvPr/>
        </p:nvSpPr>
        <p:spPr>
          <a:xfrm>
            <a:off x="6763014" y="1474568"/>
            <a:ext cx="5339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Tumour heterogeneity</a:t>
            </a:r>
          </a:p>
          <a:p>
            <a:r>
              <a:rPr lang="en-GB" sz="2400" dirty="0"/>
              <a:t>Sample purity</a:t>
            </a:r>
          </a:p>
          <a:p>
            <a:r>
              <a:rPr lang="en-GB" sz="2400" dirty="0"/>
              <a:t>TME vs neighbouring tissue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CFD768-664A-7726-9051-579ACFA3555C}"/>
              </a:ext>
            </a:extLst>
          </p:cNvPr>
          <p:cNvCxnSpPr/>
          <p:nvPr/>
        </p:nvCxnSpPr>
        <p:spPr>
          <a:xfrm flipH="1">
            <a:off x="2431914" y="1264596"/>
            <a:ext cx="749031" cy="0"/>
          </a:xfrm>
          <a:prstGeom prst="straightConnector1">
            <a:avLst/>
          </a:prstGeom>
          <a:ln w="5715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880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B9C4-3C99-F059-CF8B-0C69A3D6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9CC03D-4160-C784-C177-753E1C37DD70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9C8039-E5B3-BDFA-4951-1A928CBD652F}"/>
              </a:ext>
            </a:extLst>
          </p:cNvPr>
          <p:cNvSpPr txBox="1"/>
          <p:nvPr/>
        </p:nvSpPr>
        <p:spPr>
          <a:xfrm>
            <a:off x="0" y="32702"/>
            <a:ext cx="10693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The standard approach for unsupervised stratification of cancer samples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D219DB-B957-F423-8838-4FBEB0AF9D74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14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955F9E1-0E57-17C6-4D04-D296EAB864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6" r="50612"/>
          <a:stretch>
            <a:fillRect/>
          </a:stretch>
        </p:blipFill>
        <p:spPr bwMode="auto">
          <a:xfrm>
            <a:off x="379377" y="860892"/>
            <a:ext cx="2052537" cy="536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E14853A-61B6-1D4F-A1C6-8FB5295B2AD9}"/>
              </a:ext>
            </a:extLst>
          </p:cNvPr>
          <p:cNvCxnSpPr/>
          <p:nvPr/>
        </p:nvCxnSpPr>
        <p:spPr>
          <a:xfrm flipH="1">
            <a:off x="2431914" y="2130361"/>
            <a:ext cx="749031" cy="0"/>
          </a:xfrm>
          <a:prstGeom prst="straightConnector1">
            <a:avLst/>
          </a:prstGeom>
          <a:ln w="5715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C84342-387E-6AC7-5B0E-792780B89822}"/>
              </a:ext>
            </a:extLst>
          </p:cNvPr>
          <p:cNvSpPr txBox="1"/>
          <p:nvPr/>
        </p:nvSpPr>
        <p:spPr>
          <a:xfrm>
            <a:off x="3290239" y="1714862"/>
            <a:ext cx="53396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Different metrics have different biases</a:t>
            </a:r>
          </a:p>
          <a:p>
            <a:r>
              <a:rPr lang="en-GB" sz="2400" dirty="0"/>
              <a:t>Ensure annotations are up to date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A6F34DC-145D-BF85-5303-AA385004A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430" y="2707023"/>
            <a:ext cx="4512168" cy="3210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94CDA1-B893-1921-7EEE-92A2F7EA9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765" y="3113410"/>
            <a:ext cx="4692904" cy="239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277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2EA96-64D3-E8AC-1E70-481CC61F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1F210A-66FC-2443-E04D-138752557A87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5AADC-201D-D362-EC13-42836BA197F4}"/>
              </a:ext>
            </a:extLst>
          </p:cNvPr>
          <p:cNvSpPr txBox="1"/>
          <p:nvPr/>
        </p:nvSpPr>
        <p:spPr>
          <a:xfrm>
            <a:off x="0" y="32702"/>
            <a:ext cx="10693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The standard approach for unsupervised stratification of cancer samples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61115-8B30-9AD4-FE02-D5C443E128E4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15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9A794AE-598D-CB61-70E0-16B9191FC1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6" r="50612"/>
          <a:stretch>
            <a:fillRect/>
          </a:stretch>
        </p:blipFill>
        <p:spPr bwMode="auto">
          <a:xfrm>
            <a:off x="379377" y="860892"/>
            <a:ext cx="2052537" cy="536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44AF30-2631-9304-4EF0-71DDE46FEFFA}"/>
              </a:ext>
            </a:extLst>
          </p:cNvPr>
          <p:cNvCxnSpPr/>
          <p:nvPr/>
        </p:nvCxnSpPr>
        <p:spPr>
          <a:xfrm flipH="1">
            <a:off x="2431914" y="3060973"/>
            <a:ext cx="749031" cy="0"/>
          </a:xfrm>
          <a:prstGeom prst="straightConnector1">
            <a:avLst/>
          </a:prstGeom>
          <a:ln w="5715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D1F746C-A8C4-6049-CF18-8EEC2F3C35C8}"/>
              </a:ext>
            </a:extLst>
          </p:cNvPr>
          <p:cNvSpPr txBox="1"/>
          <p:nvPr/>
        </p:nvSpPr>
        <p:spPr>
          <a:xfrm>
            <a:off x="3290239" y="2711478"/>
            <a:ext cx="6369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Personalised is the goal, but still not attainable, so “precision” applied to groups is usually preferred</a:t>
            </a:r>
          </a:p>
        </p:txBody>
      </p:sp>
    </p:spTree>
    <p:extLst>
      <p:ext uri="{BB962C8B-B14F-4D97-AF65-F5344CB8AC3E}">
        <p14:creationId xmlns:p14="http://schemas.microsoft.com/office/powerpoint/2010/main" val="578514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A794-DE72-9A1F-47FB-9AC65CE90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48F6CF-7EB1-A168-89EF-6590023D9C25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6D73E-C9C5-1183-65A1-8CF129869C40}"/>
              </a:ext>
            </a:extLst>
          </p:cNvPr>
          <p:cNvSpPr txBox="1"/>
          <p:nvPr/>
        </p:nvSpPr>
        <p:spPr>
          <a:xfrm>
            <a:off x="0" y="32702"/>
            <a:ext cx="10693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The standard approach for unsupervised stratification of cancer samples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FEB429-DD58-AE94-E61A-8D33DD4D3E5E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16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CF3521C-047D-F375-18DD-0F017B37AE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6" r="50612"/>
          <a:stretch>
            <a:fillRect/>
          </a:stretch>
        </p:blipFill>
        <p:spPr bwMode="auto">
          <a:xfrm>
            <a:off x="379377" y="860892"/>
            <a:ext cx="2052537" cy="536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E894395-EB6C-ABA1-F82A-17921BBE4991}"/>
              </a:ext>
            </a:extLst>
          </p:cNvPr>
          <p:cNvCxnSpPr/>
          <p:nvPr/>
        </p:nvCxnSpPr>
        <p:spPr>
          <a:xfrm flipH="1">
            <a:off x="2431914" y="4095353"/>
            <a:ext cx="749031" cy="0"/>
          </a:xfrm>
          <a:prstGeom prst="straightConnector1">
            <a:avLst/>
          </a:prstGeom>
          <a:ln w="5715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253DC42-2509-445F-76C3-3186964504AE}"/>
              </a:ext>
            </a:extLst>
          </p:cNvPr>
          <p:cNvSpPr txBox="1"/>
          <p:nvPr/>
        </p:nvSpPr>
        <p:spPr>
          <a:xfrm>
            <a:off x="3361576" y="3264356"/>
            <a:ext cx="7212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Genes with high expression will have high variance, even if they are relatively constant in terms of deviation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D2A729-E2CD-2D9B-C0BA-0B9B525A13B1}"/>
              </a:ext>
            </a:extLst>
          </p:cNvPr>
          <p:cNvSpPr txBox="1"/>
          <p:nvPr/>
        </p:nvSpPr>
        <p:spPr>
          <a:xfrm>
            <a:off x="3361576" y="4095353"/>
            <a:ext cx="7212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Gene number is highly arbitrary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sz="2400" dirty="0">
                <a:sym typeface="Wingdings" panose="05000000000000000000" pitchFamily="2" charset="2"/>
              </a:rPr>
              <a:t> justification different in different datasets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5610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4661-74A5-90E4-790D-D1873637C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DE6772-E718-D7FF-59C1-16C62F261A23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E4D5D-BEFA-4E0B-CAF7-CB9A2A9ACC2D}"/>
              </a:ext>
            </a:extLst>
          </p:cNvPr>
          <p:cNvSpPr txBox="1"/>
          <p:nvPr/>
        </p:nvSpPr>
        <p:spPr>
          <a:xfrm>
            <a:off x="0" y="32702"/>
            <a:ext cx="10693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The standard approach for unsupervised stratification of cancer samples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C0108F-37EA-C31A-8CDB-A923BEDF52E5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17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629417-C81D-4626-5750-6C2EC98CAD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6" r="50612"/>
          <a:stretch>
            <a:fillRect/>
          </a:stretch>
        </p:blipFill>
        <p:spPr bwMode="auto">
          <a:xfrm>
            <a:off x="379377" y="860892"/>
            <a:ext cx="2052537" cy="536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A0F4442-E176-39C2-B05C-5589A1035E8D}"/>
              </a:ext>
            </a:extLst>
          </p:cNvPr>
          <p:cNvCxnSpPr/>
          <p:nvPr/>
        </p:nvCxnSpPr>
        <p:spPr>
          <a:xfrm flipH="1">
            <a:off x="2431914" y="5068126"/>
            <a:ext cx="749031" cy="0"/>
          </a:xfrm>
          <a:prstGeom prst="straightConnector1">
            <a:avLst/>
          </a:prstGeom>
          <a:ln w="5715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A35E2E-4451-9247-AB06-86EEF74647D3}"/>
              </a:ext>
            </a:extLst>
          </p:cNvPr>
          <p:cNvSpPr txBox="1"/>
          <p:nvPr/>
        </p:nvSpPr>
        <p:spPr>
          <a:xfrm>
            <a:off x="3346315" y="4652627"/>
            <a:ext cx="7212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Model choice has a big effect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sz="2400" dirty="0">
                <a:sym typeface="Wingdings" panose="05000000000000000000" pitchFamily="2" charset="2"/>
              </a:rPr>
              <a:t> centroid likes even groups, hierarchical can be susceptible to outliers</a:t>
            </a:r>
            <a:endParaRPr lang="en-GB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DCA67D-AFDE-09AA-FFD5-4B4B42DA0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914" y="1374376"/>
            <a:ext cx="4661102" cy="28011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68EDDB-B318-8A18-01FC-1497C47F6A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016" y="1342273"/>
            <a:ext cx="5234176" cy="28653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2AA3251-D190-2557-2123-F5FA7204087B}"/>
              </a:ext>
            </a:extLst>
          </p:cNvPr>
          <p:cNvSpPr txBox="1"/>
          <p:nvPr/>
        </p:nvSpPr>
        <p:spPr>
          <a:xfrm>
            <a:off x="2671864" y="4175532"/>
            <a:ext cx="271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Hierarchical Clustering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BA9F8A-4D1F-3934-D375-A0A471A2CB9B}"/>
              </a:ext>
            </a:extLst>
          </p:cNvPr>
          <p:cNvSpPr txBox="1"/>
          <p:nvPr/>
        </p:nvSpPr>
        <p:spPr>
          <a:xfrm>
            <a:off x="7285950" y="4175532"/>
            <a:ext cx="159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K=5 </a:t>
            </a:r>
            <a:r>
              <a:rPr lang="en-GB" b="1" dirty="0" err="1"/>
              <a:t>kmeans</a:t>
            </a:r>
            <a:endParaRPr lang="en-GB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BD0C71-5378-4578-84F4-984D65E3DFA3}"/>
              </a:ext>
            </a:extLst>
          </p:cNvPr>
          <p:cNvSpPr/>
          <p:nvPr/>
        </p:nvSpPr>
        <p:spPr>
          <a:xfrm>
            <a:off x="7093016" y="1459467"/>
            <a:ext cx="95175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19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6EE9D-72E8-7D7B-5203-07B2EF4AA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AAE077-5064-2FE2-8698-6BC595920FAB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B265D-345C-36F2-4565-1D7E34F7B52E}"/>
              </a:ext>
            </a:extLst>
          </p:cNvPr>
          <p:cNvSpPr txBox="1"/>
          <p:nvPr/>
        </p:nvSpPr>
        <p:spPr>
          <a:xfrm>
            <a:off x="0" y="32702"/>
            <a:ext cx="10693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The standard approach for unsupervised stratification of cancer samples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433F8-D129-F739-A695-5DC8C10BC2DC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18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9F3D0E2-4832-1C67-CB7E-BD01C84BD5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6" r="50612"/>
          <a:stretch>
            <a:fillRect/>
          </a:stretch>
        </p:blipFill>
        <p:spPr bwMode="auto">
          <a:xfrm>
            <a:off x="379377" y="860892"/>
            <a:ext cx="2052537" cy="536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4848AD4-93FF-5B3A-29FA-E11DC9C4A787}"/>
              </a:ext>
            </a:extLst>
          </p:cNvPr>
          <p:cNvCxnSpPr/>
          <p:nvPr/>
        </p:nvCxnSpPr>
        <p:spPr>
          <a:xfrm flipH="1">
            <a:off x="2431914" y="5943615"/>
            <a:ext cx="749031" cy="0"/>
          </a:xfrm>
          <a:prstGeom prst="straightConnector1">
            <a:avLst/>
          </a:prstGeom>
          <a:ln w="5715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2BC2C9-D516-4CAB-E09C-265B55BAC3F4}"/>
              </a:ext>
            </a:extLst>
          </p:cNvPr>
          <p:cNvSpPr txBox="1"/>
          <p:nvPr/>
        </p:nvSpPr>
        <p:spPr>
          <a:xfrm>
            <a:off x="3297677" y="5353017"/>
            <a:ext cx="7212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Derived groups correlated with other data to get associations or enrichments, links to existing outcomes, biomarkers for diagnosis or treatment </a:t>
            </a:r>
            <a:r>
              <a:rPr lang="en-GB" sz="2400" i="1" dirty="0"/>
              <a:t>etc.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04736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FB757-EDDF-FCCA-F824-6573213F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330F04-7E78-537F-A99E-B15554B529EB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CD11A-E863-2578-3DB4-C23811DE44E9}"/>
              </a:ext>
            </a:extLst>
          </p:cNvPr>
          <p:cNvSpPr txBox="1"/>
          <p:nvPr/>
        </p:nvSpPr>
        <p:spPr>
          <a:xfrm>
            <a:off x="0" y="32702"/>
            <a:ext cx="2943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Our novel strategy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8CD424-7F4B-48C0-4620-D620B0F91FAD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19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F284C-D437-3BC9-17EB-7B133E2DA0FA}"/>
              </a:ext>
            </a:extLst>
          </p:cNvPr>
          <p:cNvSpPr/>
          <p:nvPr/>
        </p:nvSpPr>
        <p:spPr>
          <a:xfrm>
            <a:off x="258484" y="5546784"/>
            <a:ext cx="284980" cy="1984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AC8FC5-E771-D49C-3617-19FD79EA9900}"/>
              </a:ext>
            </a:extLst>
          </p:cNvPr>
          <p:cNvSpPr/>
          <p:nvPr/>
        </p:nvSpPr>
        <p:spPr>
          <a:xfrm>
            <a:off x="2464582" y="5546784"/>
            <a:ext cx="537410" cy="2760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33137-BF29-B128-F6B7-42651D6EE304}"/>
              </a:ext>
            </a:extLst>
          </p:cNvPr>
          <p:cNvSpPr/>
          <p:nvPr/>
        </p:nvSpPr>
        <p:spPr>
          <a:xfrm>
            <a:off x="7245694" y="1656959"/>
            <a:ext cx="1256279" cy="2517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BF61B97-AD0B-9150-CEA9-89053C80C2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2" r="50942"/>
          <a:stretch>
            <a:fillRect/>
          </a:stretch>
        </p:blipFill>
        <p:spPr bwMode="auto">
          <a:xfrm>
            <a:off x="1332688" y="1220816"/>
            <a:ext cx="1726999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EB011B-4AEA-A18E-F65B-390B5866C17E}"/>
              </a:ext>
            </a:extLst>
          </p:cNvPr>
          <p:cNvSpPr txBox="1"/>
          <p:nvPr/>
        </p:nvSpPr>
        <p:spPr>
          <a:xfrm>
            <a:off x="5926559" y="3184153"/>
            <a:ext cx="2739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 just genes with high expression (and therefore likely high variance)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D72082-5743-A9DE-3060-B42A30F9E598}"/>
              </a:ext>
            </a:extLst>
          </p:cNvPr>
          <p:cNvSpPr txBox="1"/>
          <p:nvPr/>
        </p:nvSpPr>
        <p:spPr>
          <a:xfrm>
            <a:off x="5926559" y="2174038"/>
            <a:ext cx="2739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Genes important at all diff states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1FD79-6C8A-A059-A418-3BDB60A1A335}"/>
              </a:ext>
            </a:extLst>
          </p:cNvPr>
          <p:cNvSpPr txBox="1"/>
          <p:nvPr/>
        </p:nvSpPr>
        <p:spPr>
          <a:xfrm>
            <a:off x="5923627" y="1337951"/>
            <a:ext cx="304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Few cancers have this option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2C2B2-D88D-A661-92A1-6E1711B9679D}"/>
              </a:ext>
            </a:extLst>
          </p:cNvPr>
          <p:cNvSpPr txBox="1"/>
          <p:nvPr/>
        </p:nvSpPr>
        <p:spPr>
          <a:xfrm>
            <a:off x="5923627" y="4384380"/>
            <a:ext cx="3040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Integration of biological knowledge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07D911-FAE6-BEFA-8C9B-06A244487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687" y="5858860"/>
            <a:ext cx="836982" cy="927526"/>
          </a:xfrm>
          <a:prstGeom prst="rect">
            <a:avLst/>
          </a:prstGeom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D90C8854-9A7C-5119-7011-711CE1427B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11"/>
          <a:stretch>
            <a:fillRect/>
          </a:stretch>
        </p:blipFill>
        <p:spPr bwMode="auto">
          <a:xfrm>
            <a:off x="3407404" y="1220815"/>
            <a:ext cx="1893581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03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4" grpId="0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BBE14-8F3B-58F1-DBEE-6428DCCAD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EA0E00-228F-8DB6-4935-95E2C054B637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DF01F-67D1-301C-485A-4A4BC3FCBAF1}"/>
              </a:ext>
            </a:extLst>
          </p:cNvPr>
          <p:cNvSpPr txBox="1"/>
          <p:nvPr/>
        </p:nvSpPr>
        <p:spPr>
          <a:xfrm>
            <a:off x="0" y="32702"/>
            <a:ext cx="33575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Network construction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ADC57B-F114-8FAD-1907-FCAC5D895831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20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4CAA86-6C60-D617-67B8-36A756E1A7FA}"/>
              </a:ext>
            </a:extLst>
          </p:cNvPr>
          <p:cNvSpPr txBox="1"/>
          <p:nvPr/>
        </p:nvSpPr>
        <p:spPr>
          <a:xfrm>
            <a:off x="288471" y="3881146"/>
            <a:ext cx="6138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All-vs-all correlation networks are enormous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30E39A12-A98C-2BF0-FA95-61857D41B3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6" r="24882"/>
          <a:stretch/>
        </p:blipFill>
        <p:spPr bwMode="auto">
          <a:xfrm>
            <a:off x="6942630" y="1313924"/>
            <a:ext cx="4749004" cy="473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CBEAF1-89CD-1D9D-CDAA-06D50B963ACC}"/>
              </a:ext>
            </a:extLst>
          </p:cNvPr>
          <p:cNvSpPr txBox="1"/>
          <p:nvPr/>
        </p:nvSpPr>
        <p:spPr>
          <a:xfrm>
            <a:off x="288471" y="2717207"/>
            <a:ext cx="6006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Nodes</a:t>
            </a:r>
            <a:r>
              <a:rPr lang="en-GB" sz="1600" dirty="0"/>
              <a:t> </a:t>
            </a:r>
            <a:r>
              <a:rPr lang="en-GB" sz="1600" dirty="0">
                <a:sym typeface="Wingdings" panose="05000000000000000000" pitchFamily="2" charset="2"/>
              </a:rPr>
              <a:t> </a:t>
            </a:r>
            <a:r>
              <a:rPr lang="en-GB" sz="2000" dirty="0">
                <a:sym typeface="Wingdings" panose="05000000000000000000" pitchFamily="2" charset="2"/>
              </a:rPr>
              <a:t>genes</a:t>
            </a:r>
          </a:p>
          <a:p>
            <a:r>
              <a:rPr lang="en-GB" sz="2000" dirty="0">
                <a:sym typeface="Wingdings" panose="05000000000000000000" pitchFamily="2" charset="2"/>
              </a:rPr>
              <a:t>Edges </a:t>
            </a:r>
            <a:r>
              <a:rPr lang="en-GB" sz="1600" dirty="0">
                <a:sym typeface="Wingdings" panose="05000000000000000000" pitchFamily="2" charset="2"/>
              </a:rPr>
              <a:t> </a:t>
            </a:r>
            <a:r>
              <a:rPr lang="en-GB" sz="2000" dirty="0">
                <a:sym typeface="Wingdings" panose="05000000000000000000" pitchFamily="2" charset="2"/>
              </a:rPr>
              <a:t>the correlation values (the lines joining nodes)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CB3EE-49A2-E818-8DB2-57203948E22C}"/>
              </a:ext>
            </a:extLst>
          </p:cNvPr>
          <p:cNvSpPr txBox="1"/>
          <p:nvPr/>
        </p:nvSpPr>
        <p:spPr>
          <a:xfrm>
            <a:off x="288471" y="5477250"/>
            <a:ext cx="6368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Our network using 5000 genes therefore has &gt;12.5M edges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544E53-60BB-EA3A-F711-E6FBF14DB556}"/>
              </a:ext>
            </a:extLst>
          </p:cNvPr>
          <p:cNvGrpSpPr/>
          <p:nvPr/>
        </p:nvGrpSpPr>
        <p:grpSpPr>
          <a:xfrm>
            <a:off x="288471" y="4594560"/>
            <a:ext cx="6247682" cy="769441"/>
            <a:chOff x="5733786" y="2721114"/>
            <a:chExt cx="6247682" cy="7694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FC6725-C4F2-03A0-48D1-6F3CE3BA3A8E}"/>
                </a:ext>
              </a:extLst>
            </p:cNvPr>
            <p:cNvSpPr txBox="1"/>
            <p:nvPr/>
          </p:nvSpPr>
          <p:spPr>
            <a:xfrm>
              <a:off x="5733786" y="2721114"/>
              <a:ext cx="62476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Num network edges = (</a:t>
              </a:r>
              <a:r>
                <a:rPr lang="en-GB" sz="2000" dirty="0" err="1"/>
                <a:t>num</a:t>
              </a:r>
              <a:r>
                <a:rPr lang="en-GB" sz="2000" dirty="0"/>
                <a:t> nodes * (</a:t>
              </a:r>
              <a:r>
                <a:rPr lang="en-GB" sz="2000" dirty="0" err="1"/>
                <a:t>num</a:t>
              </a:r>
              <a:r>
                <a:rPr lang="en-GB" sz="2000" dirty="0"/>
                <a:t> nodes - 1)) </a:t>
              </a:r>
            </a:p>
            <a:p>
              <a:endParaRPr lang="en-GB" sz="400" dirty="0"/>
            </a:p>
            <a:p>
              <a:r>
                <a:rPr lang="en-GB" sz="2000" dirty="0"/>
                <a:t>				   2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13E5B36-93FD-0481-566E-23199114CAEE}"/>
                </a:ext>
              </a:extLst>
            </p:cNvPr>
            <p:cNvCxnSpPr/>
            <p:nvPr/>
          </p:nvCxnSpPr>
          <p:spPr>
            <a:xfrm>
              <a:off x="8107051" y="3109300"/>
              <a:ext cx="32617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4A0FEAC-9267-885B-A1D7-6EDE1D8704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707"/>
          <a:stretch>
            <a:fillRect/>
          </a:stretch>
        </p:blipFill>
        <p:spPr>
          <a:xfrm>
            <a:off x="400974" y="836096"/>
            <a:ext cx="3754466" cy="173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3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449C-8647-B578-A005-E6A1B187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9CF855-35E4-E0BA-1C86-8E30FA52699D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C61D7-A37B-26DA-F731-8888A39AAE69}"/>
              </a:ext>
            </a:extLst>
          </p:cNvPr>
          <p:cNvSpPr txBox="1"/>
          <p:nvPr/>
        </p:nvSpPr>
        <p:spPr>
          <a:xfrm>
            <a:off x="0" y="32702"/>
            <a:ext cx="38208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Network construction (ii)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452DBB-3E02-A907-44C2-7E92F93DFE19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21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763AC-96E4-1B98-B39F-9854E4261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166"/>
          <a:stretch>
            <a:fillRect/>
          </a:stretch>
        </p:blipFill>
        <p:spPr>
          <a:xfrm>
            <a:off x="282868" y="1050460"/>
            <a:ext cx="3915976" cy="1845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76F93E-D52E-3A19-6850-58E1A1A558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919" b="34418"/>
          <a:stretch>
            <a:fillRect/>
          </a:stretch>
        </p:blipFill>
        <p:spPr>
          <a:xfrm>
            <a:off x="3500688" y="2858790"/>
            <a:ext cx="3885566" cy="19989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A2022E-F2DF-EA03-E462-F5E1F5876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337"/>
          <a:stretch>
            <a:fillRect/>
          </a:stretch>
        </p:blipFill>
        <p:spPr>
          <a:xfrm>
            <a:off x="7074910" y="4641248"/>
            <a:ext cx="3935860" cy="202480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F43A6D-ABE9-FD0E-75F3-DEEC39A8E04A}"/>
              </a:ext>
            </a:extLst>
          </p:cNvPr>
          <p:cNvSpPr/>
          <p:nvPr/>
        </p:nvSpPr>
        <p:spPr>
          <a:xfrm>
            <a:off x="3557575" y="2774063"/>
            <a:ext cx="331694" cy="3876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639F8B-6F12-2E0C-07B2-55B0C3078C8E}"/>
              </a:ext>
            </a:extLst>
          </p:cNvPr>
          <p:cNvSpPr/>
          <p:nvPr/>
        </p:nvSpPr>
        <p:spPr>
          <a:xfrm>
            <a:off x="313437" y="1060640"/>
            <a:ext cx="331694" cy="3876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62FFAD-A504-E241-0F55-18236C53086A}"/>
              </a:ext>
            </a:extLst>
          </p:cNvPr>
          <p:cNvSpPr/>
          <p:nvPr/>
        </p:nvSpPr>
        <p:spPr>
          <a:xfrm>
            <a:off x="7220407" y="4790859"/>
            <a:ext cx="331694" cy="3876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B5EBEF-1509-E59A-1C68-9A4E514229C7}"/>
              </a:ext>
            </a:extLst>
          </p:cNvPr>
          <p:cNvCxnSpPr>
            <a:cxnSpLocks/>
          </p:cNvCxnSpPr>
          <p:nvPr/>
        </p:nvCxnSpPr>
        <p:spPr>
          <a:xfrm rot="2100000">
            <a:off x="3002236" y="3116900"/>
            <a:ext cx="900000" cy="0"/>
          </a:xfrm>
          <a:prstGeom prst="straightConnector1">
            <a:avLst/>
          </a:prstGeom>
          <a:ln w="3810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82EFCA-3786-B506-6BAA-36D8FDE9F374}"/>
              </a:ext>
            </a:extLst>
          </p:cNvPr>
          <p:cNvCxnSpPr>
            <a:cxnSpLocks/>
          </p:cNvCxnSpPr>
          <p:nvPr/>
        </p:nvCxnSpPr>
        <p:spPr>
          <a:xfrm rot="2100000">
            <a:off x="6456993" y="5178487"/>
            <a:ext cx="900000" cy="0"/>
          </a:xfrm>
          <a:prstGeom prst="straightConnector1">
            <a:avLst/>
          </a:prstGeom>
          <a:ln w="3810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99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122B-4583-6943-EDE3-3663A9E6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C4D6D3-44B8-3D02-EBAD-135E23E765C8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5F225-7698-F9D2-DE11-A5E5C80B225E}"/>
              </a:ext>
            </a:extLst>
          </p:cNvPr>
          <p:cNvSpPr txBox="1"/>
          <p:nvPr/>
        </p:nvSpPr>
        <p:spPr>
          <a:xfrm>
            <a:off x="0" y="32702"/>
            <a:ext cx="7673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98 naturally emergent TFs define network structure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87BDEA-E874-87FB-93D8-4AF20D71559A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22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4C15FC-2AD0-0A1C-F0DA-45409EC32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44" y="850405"/>
            <a:ext cx="3754466" cy="57378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C1F800-F55C-5FF0-E54F-43F5A4516C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6" b="15095"/>
          <a:stretch/>
        </p:blipFill>
        <p:spPr bwMode="auto">
          <a:xfrm>
            <a:off x="5184949" y="-16947"/>
            <a:ext cx="6809236" cy="687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88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4371-EC7F-F1A6-5A71-BE40D77A4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ollage of diagrams and graphs&#10;&#10;AI-generated content may be incorrect.">
            <a:extLst>
              <a:ext uri="{FF2B5EF4-FFF2-40B4-BE49-F238E27FC236}">
                <a16:creationId xmlns:a16="http://schemas.microsoft.com/office/drawing/2014/main" id="{B44219DD-0314-AA50-C730-5561569CA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36" t="64444"/>
          <a:stretch>
            <a:fillRect/>
          </a:stretch>
        </p:blipFill>
        <p:spPr>
          <a:xfrm>
            <a:off x="464428" y="1750983"/>
            <a:ext cx="4351412" cy="33449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D388FB-2584-F862-2EFF-9A9722B1159E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EF71C-400A-8EE8-7FEB-A5EE7994734A}"/>
              </a:ext>
            </a:extLst>
          </p:cNvPr>
          <p:cNvSpPr txBox="1"/>
          <p:nvPr/>
        </p:nvSpPr>
        <p:spPr>
          <a:xfrm>
            <a:off x="0" y="32702"/>
            <a:ext cx="10558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Novel Ba/Sq subdivision had very poor survival and was driven by NRF2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2AA95D-BEF9-25A8-B436-3AFA0C38071C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23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EC1992-4D21-6EA2-9473-BB4A08A21D05}"/>
              </a:ext>
            </a:extLst>
          </p:cNvPr>
          <p:cNvSpPr/>
          <p:nvPr/>
        </p:nvSpPr>
        <p:spPr>
          <a:xfrm>
            <a:off x="124850" y="2854960"/>
            <a:ext cx="339578" cy="346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close-up of a diagram&#10;&#10;AI-generated content may be incorrect.">
            <a:extLst>
              <a:ext uri="{FF2B5EF4-FFF2-40B4-BE49-F238E27FC236}">
                <a16:creationId xmlns:a16="http://schemas.microsoft.com/office/drawing/2014/main" id="{983F5608-5595-FE6E-54EA-DFF1E29EB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404" b="32000"/>
          <a:stretch>
            <a:fillRect/>
          </a:stretch>
        </p:blipFill>
        <p:spPr>
          <a:xfrm>
            <a:off x="5419984" y="710259"/>
            <a:ext cx="4374256" cy="6010866"/>
          </a:xfrm>
          <a:prstGeom prst="rect">
            <a:avLst/>
          </a:prstGeom>
        </p:spPr>
      </p:pic>
      <p:pic>
        <p:nvPicPr>
          <p:cNvPr id="12" name="Picture 11" descr="A close-up of a diagram&#10;&#10;AI-generated content may be incorrect.">
            <a:extLst>
              <a:ext uri="{FF2B5EF4-FFF2-40B4-BE49-F238E27FC236}">
                <a16:creationId xmlns:a16="http://schemas.microsoft.com/office/drawing/2014/main" id="{96248696-3B76-81E9-9C49-33DF7A4336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34" t="1" r="1186" b="72763"/>
          <a:stretch>
            <a:fillRect/>
          </a:stretch>
        </p:blipFill>
        <p:spPr>
          <a:xfrm>
            <a:off x="9411752" y="4496084"/>
            <a:ext cx="2585829" cy="222504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06B1A9D-3193-BEA8-62F7-D4BEF2DBE813}"/>
              </a:ext>
            </a:extLst>
          </p:cNvPr>
          <p:cNvSpPr/>
          <p:nvPr/>
        </p:nvSpPr>
        <p:spPr>
          <a:xfrm>
            <a:off x="5247264" y="710259"/>
            <a:ext cx="472816" cy="427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D40F65-0658-8DBB-2B73-0D493C411C7B}"/>
              </a:ext>
            </a:extLst>
          </p:cNvPr>
          <p:cNvSpPr/>
          <p:nvPr/>
        </p:nvSpPr>
        <p:spPr>
          <a:xfrm>
            <a:off x="9461312" y="644877"/>
            <a:ext cx="472816" cy="427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821B8-D642-A069-C731-932E48E86316}"/>
              </a:ext>
            </a:extLst>
          </p:cNvPr>
          <p:cNvSpPr/>
          <p:nvPr/>
        </p:nvSpPr>
        <p:spPr>
          <a:xfrm>
            <a:off x="9385112" y="2854960"/>
            <a:ext cx="472816" cy="427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8E0F81-00B7-E58B-9433-8D4134125809}"/>
              </a:ext>
            </a:extLst>
          </p:cNvPr>
          <p:cNvSpPr txBox="1"/>
          <p:nvPr/>
        </p:nvSpPr>
        <p:spPr>
          <a:xfrm>
            <a:off x="297733" y="735320"/>
            <a:ext cx="11442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There is no ground truth</a:t>
            </a:r>
          </a:p>
          <a:p>
            <a:pPr marL="800100" lvl="1" indent="-342900">
              <a:buFontTx/>
              <a:buChar char="-"/>
            </a:pPr>
            <a:r>
              <a:rPr lang="en-GB" sz="2000" dirty="0"/>
              <a:t>Survival is poor for </a:t>
            </a:r>
            <a:r>
              <a:rPr lang="en-GB" sz="2000" b="1" dirty="0"/>
              <a:t>all</a:t>
            </a:r>
            <a:r>
              <a:rPr lang="en-GB" sz="2000" dirty="0"/>
              <a:t> MIBC patients</a:t>
            </a:r>
            <a:endParaRPr lang="en-GB" sz="2400" dirty="0"/>
          </a:p>
          <a:p>
            <a:pPr marL="800100" lvl="1" indent="-342900">
              <a:buFontTx/>
              <a:buChar char="-"/>
            </a:pPr>
            <a:r>
              <a:rPr lang="en-GB" sz="2000" dirty="0"/>
              <a:t>Very poor survival gave a good first indication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D03BAC-C596-976B-4A88-3D7CA980CF63}"/>
              </a:ext>
            </a:extLst>
          </p:cNvPr>
          <p:cNvSpPr txBox="1"/>
          <p:nvPr/>
        </p:nvSpPr>
        <p:spPr>
          <a:xfrm>
            <a:off x="284850" y="5205890"/>
            <a:ext cx="114427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DEA showed specific signatures for:</a:t>
            </a:r>
          </a:p>
          <a:p>
            <a:pPr marL="720725" lvl="1" indent="-263525">
              <a:buFontTx/>
              <a:buChar char="-"/>
            </a:pPr>
            <a:r>
              <a:rPr lang="en-GB" sz="2000" dirty="0"/>
              <a:t>ROS response</a:t>
            </a:r>
          </a:p>
          <a:p>
            <a:pPr marL="742950" lvl="1" indent="-285750">
              <a:buFontTx/>
              <a:buChar char="-"/>
            </a:pPr>
            <a:r>
              <a:rPr lang="en-GB" sz="2000" dirty="0"/>
              <a:t>Drug conjugation</a:t>
            </a:r>
          </a:p>
          <a:p>
            <a:pPr marL="742950" lvl="1" indent="-285750">
              <a:buFontTx/>
              <a:buChar char="-"/>
            </a:pPr>
            <a:r>
              <a:rPr lang="en-GB" sz="2000" dirty="0"/>
              <a:t>mTOR signalling</a:t>
            </a:r>
          </a:p>
          <a:p>
            <a:pPr marL="742950" lvl="1" indent="-285750">
              <a:buFontTx/>
              <a:buChar char="-"/>
            </a:pPr>
            <a:r>
              <a:rPr lang="en-GB" sz="2000" dirty="0"/>
              <a:t>Retinoid signalling</a:t>
            </a:r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29A60F-CB64-73B1-13B0-4632A5699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451" y="1922399"/>
            <a:ext cx="1756010" cy="155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19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7BEFF-6753-694E-083B-897C372E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0BAD1C-48A5-C546-8624-4D750716955A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A43A6-8F4D-5B7F-8BC0-2064EDD266BB}"/>
              </a:ext>
            </a:extLst>
          </p:cNvPr>
          <p:cNvSpPr txBox="1"/>
          <p:nvPr/>
        </p:nvSpPr>
        <p:spPr>
          <a:xfrm>
            <a:off x="0" y="32702"/>
            <a:ext cx="10611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NRF2 overactive group showed mixed, but consistent mutational profile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8D00CA-1820-CE24-C1D8-BFB83ED12679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24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16F23D-FCF1-D322-0333-30672BF81800}"/>
              </a:ext>
            </a:extLst>
          </p:cNvPr>
          <p:cNvSpPr txBox="1"/>
          <p:nvPr/>
        </p:nvSpPr>
        <p:spPr>
          <a:xfrm>
            <a:off x="297733" y="775960"/>
            <a:ext cx="68853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50% of group contained driver </a:t>
            </a:r>
            <a:r>
              <a:rPr lang="en-GB" sz="2000" i="1" dirty="0"/>
              <a:t>NFE2L2</a:t>
            </a:r>
            <a:r>
              <a:rPr lang="en-GB" sz="2000" dirty="0"/>
              <a:t> mutations</a:t>
            </a:r>
          </a:p>
          <a:p>
            <a:r>
              <a:rPr lang="en-GB" sz="2000" dirty="0">
                <a:sym typeface="Wingdings" panose="05000000000000000000" pitchFamily="2" charset="2"/>
              </a:rPr>
              <a:t>10% contained potential </a:t>
            </a:r>
            <a:r>
              <a:rPr lang="en-GB" sz="2000" i="1" dirty="0">
                <a:sym typeface="Wingdings" panose="05000000000000000000" pitchFamily="2" charset="2"/>
              </a:rPr>
              <a:t>KEAP1</a:t>
            </a:r>
            <a:r>
              <a:rPr lang="en-GB" sz="2000" dirty="0">
                <a:sym typeface="Wingdings" panose="05000000000000000000" pitchFamily="2" charset="2"/>
              </a:rPr>
              <a:t> driver mutations</a:t>
            </a:r>
          </a:p>
          <a:p>
            <a:r>
              <a:rPr lang="en-GB" sz="2000" dirty="0">
                <a:sym typeface="Wingdings" panose="05000000000000000000" pitchFamily="2" charset="2"/>
              </a:rPr>
              <a:t>PI3K pathway alterations seen in 60%</a:t>
            </a:r>
          </a:p>
          <a:p>
            <a:r>
              <a:rPr lang="en-GB" sz="2000" dirty="0">
                <a:sym typeface="Wingdings" panose="05000000000000000000" pitchFamily="2" charset="2"/>
              </a:rPr>
              <a:t>Changes in Ca</a:t>
            </a:r>
            <a:r>
              <a:rPr lang="en-GB" sz="2000" baseline="30000" dirty="0">
                <a:sym typeface="Wingdings" panose="05000000000000000000" pitchFamily="2" charset="2"/>
              </a:rPr>
              <a:t>2+</a:t>
            </a:r>
            <a:r>
              <a:rPr lang="en-GB" sz="2000" dirty="0">
                <a:sym typeface="Wingdings" panose="05000000000000000000" pitchFamily="2" charset="2"/>
              </a:rPr>
              <a:t> and Na</a:t>
            </a:r>
            <a:r>
              <a:rPr lang="en-GB" sz="2000" baseline="30000" dirty="0">
                <a:sym typeface="Wingdings" panose="05000000000000000000" pitchFamily="2" charset="2"/>
              </a:rPr>
              <a:t>+ </a:t>
            </a:r>
            <a:r>
              <a:rPr lang="en-GB" sz="2000" dirty="0">
                <a:sym typeface="Wingdings" panose="05000000000000000000" pitchFamily="2" charset="2"/>
              </a:rPr>
              <a:t>channels may feed into PI changes</a:t>
            </a:r>
          </a:p>
        </p:txBody>
      </p:sp>
      <p:pic>
        <p:nvPicPr>
          <p:cNvPr id="8" name="Picture 7" descr="A close-up of a diagram&#10;&#10;AI-generated content may be incorrect.">
            <a:extLst>
              <a:ext uri="{FF2B5EF4-FFF2-40B4-BE49-F238E27FC236}">
                <a16:creationId xmlns:a16="http://schemas.microsoft.com/office/drawing/2014/main" id="{28AAEEC3-DC27-F42A-39F7-ED6D9242D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93" r="64408" b="1977"/>
          <a:stretch>
            <a:fillRect/>
          </a:stretch>
        </p:blipFill>
        <p:spPr>
          <a:xfrm>
            <a:off x="5305619" y="2720903"/>
            <a:ext cx="3377574" cy="303742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3D0D592-08D6-7877-1D98-6A740C4765A9}"/>
              </a:ext>
            </a:extLst>
          </p:cNvPr>
          <p:cNvSpPr/>
          <p:nvPr/>
        </p:nvSpPr>
        <p:spPr>
          <a:xfrm>
            <a:off x="3792611" y="3539333"/>
            <a:ext cx="339578" cy="346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13AAE0-47A4-B299-1033-00352956DBE2}"/>
              </a:ext>
            </a:extLst>
          </p:cNvPr>
          <p:cNvSpPr/>
          <p:nvPr/>
        </p:nvSpPr>
        <p:spPr>
          <a:xfrm>
            <a:off x="5305619" y="2547895"/>
            <a:ext cx="339578" cy="346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EC8FD6-78EB-A914-8C33-76FCD3322E39}"/>
              </a:ext>
            </a:extLst>
          </p:cNvPr>
          <p:cNvSpPr/>
          <p:nvPr/>
        </p:nvSpPr>
        <p:spPr>
          <a:xfrm>
            <a:off x="8438527" y="1636987"/>
            <a:ext cx="339578" cy="346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A close-up of a diagram&#10;&#10;AI-generated content may be incorrect.">
            <a:extLst>
              <a:ext uri="{FF2B5EF4-FFF2-40B4-BE49-F238E27FC236}">
                <a16:creationId xmlns:a16="http://schemas.microsoft.com/office/drawing/2014/main" id="{32810E79-146A-6DB8-09C5-4ACE09B94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61" t="28628" b="32811"/>
          <a:stretch>
            <a:fillRect/>
          </a:stretch>
        </p:blipFill>
        <p:spPr>
          <a:xfrm>
            <a:off x="700676" y="2319437"/>
            <a:ext cx="3261724" cy="37284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7D04A56-2943-196C-104B-42B1AF7CFE22}"/>
              </a:ext>
            </a:extLst>
          </p:cNvPr>
          <p:cNvSpPr txBox="1"/>
          <p:nvPr/>
        </p:nvSpPr>
        <p:spPr>
          <a:xfrm>
            <a:off x="4492854" y="2259238"/>
            <a:ext cx="6885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Some </a:t>
            </a:r>
            <a:r>
              <a:rPr lang="en-GB" sz="2000" i="1" dirty="0"/>
              <a:t>NFE2L2</a:t>
            </a:r>
            <a:r>
              <a:rPr lang="en-GB" sz="2000" dirty="0"/>
              <a:t> drivers were excluded!</a:t>
            </a:r>
            <a:endParaRPr lang="en-GB" sz="2000" dirty="0">
              <a:sym typeface="Wingdings" panose="05000000000000000000" pitchFamily="2" charset="2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6BF075B-E2CB-3322-A26E-A0124E762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0507" y="1631543"/>
            <a:ext cx="2928189" cy="1939450"/>
          </a:xfrm>
          <a:prstGeom prst="rect">
            <a:avLst/>
          </a:prstGeom>
        </p:spPr>
      </p:pic>
      <p:pic>
        <p:nvPicPr>
          <p:cNvPr id="21" name="Picture 20" descr="A close-up of a diagram&#10;&#10;AI-generated content may be incorrect.">
            <a:extLst>
              <a:ext uri="{FF2B5EF4-FFF2-40B4-BE49-F238E27FC236}">
                <a16:creationId xmlns:a16="http://schemas.microsoft.com/office/drawing/2014/main" id="{1EA3DF8A-B72F-1D13-FD4E-751CEE68D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0" t="69937" r="-1201" b="250"/>
          <a:stretch>
            <a:fillRect/>
          </a:stretch>
        </p:blipFill>
        <p:spPr>
          <a:xfrm>
            <a:off x="9464625" y="3752784"/>
            <a:ext cx="2293225" cy="307921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70220B0-9693-0D71-92DD-3A81D1F089CF}"/>
              </a:ext>
            </a:extLst>
          </p:cNvPr>
          <p:cNvSpPr/>
          <p:nvPr/>
        </p:nvSpPr>
        <p:spPr>
          <a:xfrm>
            <a:off x="9294836" y="3674220"/>
            <a:ext cx="339578" cy="346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556733-4630-A619-BF49-83EF21675B39}"/>
              </a:ext>
            </a:extLst>
          </p:cNvPr>
          <p:cNvSpPr txBox="1"/>
          <p:nvPr/>
        </p:nvSpPr>
        <p:spPr>
          <a:xfrm>
            <a:off x="4492854" y="6082040"/>
            <a:ext cx="4801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Reanalysis of LUSC </a:t>
            </a:r>
            <a:r>
              <a:rPr lang="en-GB" sz="2000" dirty="0" err="1"/>
              <a:t>sapanisertib</a:t>
            </a:r>
            <a:r>
              <a:rPr lang="en-GB" sz="2000" dirty="0"/>
              <a:t> (</a:t>
            </a:r>
            <a:r>
              <a:rPr lang="en-GB" sz="2000" dirty="0" err="1"/>
              <a:t>mTORi</a:t>
            </a:r>
            <a:r>
              <a:rPr lang="en-GB" sz="2000" dirty="0"/>
              <a:t>) trial shows genotype-specific response</a:t>
            </a:r>
            <a:endParaRPr lang="en-GB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6368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CFE3F-AD75-15DA-79C7-32C4E2D2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D6B416-BDBB-880C-0441-7720860E27FD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1A4A02-95BC-2BEB-16AF-5FC6CF984AB9}"/>
              </a:ext>
            </a:extLst>
          </p:cNvPr>
          <p:cNvSpPr txBox="1"/>
          <p:nvPr/>
        </p:nvSpPr>
        <p:spPr>
          <a:xfrm>
            <a:off x="0" y="32702"/>
            <a:ext cx="86433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err="1">
                <a:solidFill>
                  <a:schemeClr val="bg1"/>
                </a:solidFill>
              </a:rPr>
              <a:t>Sapanisertib</a:t>
            </a:r>
            <a:r>
              <a:rPr lang="en-GB" sz="2800" dirty="0">
                <a:solidFill>
                  <a:schemeClr val="bg1"/>
                </a:solidFill>
              </a:rPr>
              <a:t> specifically kills BLCA cells with DLG mutation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71D397-ABF8-D30A-2384-973E9AF714BB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25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C4E5FC-A98B-69E1-9169-ECAE22A7EAE5}"/>
              </a:ext>
            </a:extLst>
          </p:cNvPr>
          <p:cNvSpPr txBox="1"/>
          <p:nvPr/>
        </p:nvSpPr>
        <p:spPr>
          <a:xfrm>
            <a:off x="297733" y="735320"/>
            <a:ext cx="1144272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1µM </a:t>
            </a:r>
            <a:r>
              <a:rPr lang="en-GB" sz="2400" dirty="0" err="1"/>
              <a:t>sapanisertib</a:t>
            </a:r>
            <a:r>
              <a:rPr lang="en-GB" sz="2400" dirty="0"/>
              <a:t> kills &gt;90% of BC-3c cells (NRF2 R34G)</a:t>
            </a:r>
          </a:p>
          <a:p>
            <a:pPr marL="800100" lvl="1" indent="-342900">
              <a:buFontTx/>
              <a:buChar char="-"/>
            </a:pPr>
            <a:r>
              <a:rPr lang="en-GB" sz="2000" dirty="0" err="1"/>
              <a:t>mTORi</a:t>
            </a:r>
            <a:r>
              <a:rPr lang="en-GB" sz="2000" dirty="0"/>
              <a:t> slows growth in other Ba/Sq lines, but cessation allows recovery</a:t>
            </a:r>
          </a:p>
          <a:p>
            <a:pPr marL="800100" lvl="1" indent="-342900">
              <a:buFontTx/>
              <a:buChar char="-"/>
            </a:pPr>
            <a:r>
              <a:rPr lang="en-GB" sz="2000" dirty="0"/>
              <a:t>senescence-consistent phenotype common after mTOR inhibition </a:t>
            </a:r>
            <a:r>
              <a:rPr lang="en-GB" sz="1600" dirty="0">
                <a:sym typeface="Wingdings" panose="05000000000000000000" pitchFamily="2" charset="2"/>
              </a:rPr>
              <a:t></a:t>
            </a:r>
            <a:r>
              <a:rPr lang="en-GB" sz="2000" dirty="0">
                <a:sym typeface="Wingdings" panose="05000000000000000000" pitchFamily="2" charset="2"/>
              </a:rPr>
              <a:t> trying to target these cells</a:t>
            </a:r>
            <a:endParaRPr lang="en-GB" sz="20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We see consistent changes in LUSC and HNSC lines as well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C356D4-18BF-A0EB-FD25-97E01CF46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49" y="1864261"/>
            <a:ext cx="2693628" cy="39618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EC97FA-149E-6BA9-E8E2-ADD688A9996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902" y="1864261"/>
            <a:ext cx="5017194" cy="406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85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D6132-A57B-5EF7-815F-4B1FF991D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A9D360-44A5-3CEE-4820-68BD9A19DD32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9247E-7C29-2B59-7A93-F8388F6736B8}"/>
              </a:ext>
            </a:extLst>
          </p:cNvPr>
          <p:cNvSpPr txBox="1"/>
          <p:nvPr/>
        </p:nvSpPr>
        <p:spPr>
          <a:xfrm>
            <a:off x="0" y="32702"/>
            <a:ext cx="9472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Focusing on the biology-driven subtyping </a:t>
            </a:r>
            <a:r>
              <a:rPr lang="en-GB" sz="20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GB" sz="28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sz="2800" dirty="0">
                <a:solidFill>
                  <a:schemeClr val="bg1"/>
                </a:solidFill>
              </a:rPr>
              <a:t>moving beyond PoC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5520A-1507-90F4-41DB-2555AB4F2DBE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26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EE762-A253-079E-D870-AF2F30B3B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830" y="1137398"/>
            <a:ext cx="3221261" cy="4922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04BDEB-7AB0-167C-103A-D699F3F654BC}"/>
              </a:ext>
            </a:extLst>
          </p:cNvPr>
          <p:cNvSpPr txBox="1"/>
          <p:nvPr/>
        </p:nvSpPr>
        <p:spPr>
          <a:xfrm>
            <a:off x="690664" y="1589908"/>
            <a:ext cx="407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New/different/subset mRNA datasets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C0B99-53AE-EBB1-33AD-6CEC55DEC450}"/>
              </a:ext>
            </a:extLst>
          </p:cNvPr>
          <p:cNvSpPr txBox="1"/>
          <p:nvPr/>
        </p:nvSpPr>
        <p:spPr>
          <a:xfrm>
            <a:off x="1354806" y="5005764"/>
            <a:ext cx="3538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Prioritise different gene sets</a:t>
            </a:r>
          </a:p>
          <a:p>
            <a:endParaRPr lang="en-GB" dirty="0"/>
          </a:p>
          <a:p>
            <a:r>
              <a:rPr lang="en-GB" dirty="0"/>
              <a:t>Integrate different modalities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E320C-FD6C-144E-37A7-B2FF8E1587B1}"/>
              </a:ext>
            </a:extLst>
          </p:cNvPr>
          <p:cNvSpPr txBox="1"/>
          <p:nvPr/>
        </p:nvSpPr>
        <p:spPr>
          <a:xfrm>
            <a:off x="690664" y="2042418"/>
            <a:ext cx="407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Different modalities – miRNA, LR </a:t>
            </a:r>
            <a:r>
              <a:rPr lang="en-GB" i="1" dirty="0"/>
              <a:t>etc.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8DA16D-C7B1-5E0C-79BA-7E4571563A66}"/>
              </a:ext>
            </a:extLst>
          </p:cNvPr>
          <p:cNvSpPr txBox="1"/>
          <p:nvPr/>
        </p:nvSpPr>
        <p:spPr>
          <a:xfrm>
            <a:off x="8202247" y="6087125"/>
            <a:ext cx="353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Stratify different BC stages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FA4640-F7D5-CC54-DBE6-E1AE5B2C6A93}"/>
              </a:ext>
            </a:extLst>
          </p:cNvPr>
          <p:cNvCxnSpPr/>
          <p:nvPr/>
        </p:nvCxnSpPr>
        <p:spPr>
          <a:xfrm>
            <a:off x="7373566" y="5929094"/>
            <a:ext cx="787940" cy="316063"/>
          </a:xfrm>
          <a:prstGeom prst="straightConnector1">
            <a:avLst/>
          </a:prstGeom>
          <a:ln w="3810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F768D2-47D1-8BA5-F833-8B65E83175D1}"/>
              </a:ext>
            </a:extLst>
          </p:cNvPr>
          <p:cNvSpPr/>
          <p:nvPr/>
        </p:nvSpPr>
        <p:spPr>
          <a:xfrm>
            <a:off x="1274745" y="5458275"/>
            <a:ext cx="3083246" cy="602058"/>
          </a:xfrm>
          <a:prstGeom prst="roundRect">
            <a:avLst/>
          </a:prstGeom>
          <a:noFill/>
          <a:ln w="571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249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1AED5-06A6-38FC-3A62-608C6112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4EAAAF-D9DA-4254-041C-CB36B6E6C8F1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9D738-C3B2-6CD0-7620-83C9BC80C06A}"/>
              </a:ext>
            </a:extLst>
          </p:cNvPr>
          <p:cNvSpPr txBox="1"/>
          <p:nvPr/>
        </p:nvSpPr>
        <p:spPr>
          <a:xfrm>
            <a:off x="0" y="32702"/>
            <a:ext cx="3353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Multiomic integration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2B639-C4CE-A7E0-97CF-FEF6F053A97C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27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1243A-6DB3-6198-7BF2-FD365E05C08A}"/>
              </a:ext>
            </a:extLst>
          </p:cNvPr>
          <p:cNvSpPr txBox="1"/>
          <p:nvPr/>
        </p:nvSpPr>
        <p:spPr>
          <a:xfrm>
            <a:off x="7301278" y="2003426"/>
            <a:ext cx="4801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Multiomic integration often means cluster separately and combine, or combine all data before clustering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D10E1D-75A0-39A1-7403-381342962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" y="800874"/>
            <a:ext cx="7633553" cy="34455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549255-BE6D-7E76-25CB-43C93927F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68" y="4406307"/>
            <a:ext cx="8206648" cy="23670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01018E6-BD1F-7E46-692B-15372A6EE483}"/>
              </a:ext>
            </a:extLst>
          </p:cNvPr>
          <p:cNvSpPr/>
          <p:nvPr/>
        </p:nvSpPr>
        <p:spPr>
          <a:xfrm>
            <a:off x="4633297" y="4835167"/>
            <a:ext cx="2667982" cy="173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AF1549-BB74-9320-BE7D-ADBF6D64A488}"/>
              </a:ext>
            </a:extLst>
          </p:cNvPr>
          <p:cNvSpPr/>
          <p:nvPr/>
        </p:nvSpPr>
        <p:spPr>
          <a:xfrm>
            <a:off x="7340639" y="4873242"/>
            <a:ext cx="2925407" cy="173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056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7871-6F94-B6FE-1B93-BF39906C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7A9C83-0FB4-3D35-A153-CC3374150976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1D482-612A-376D-0218-DFB9AEB785F8}"/>
              </a:ext>
            </a:extLst>
          </p:cNvPr>
          <p:cNvSpPr txBox="1"/>
          <p:nvPr/>
        </p:nvSpPr>
        <p:spPr>
          <a:xfrm>
            <a:off x="0" y="32702"/>
            <a:ext cx="6704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Mutation integration, but doing it our way (</a:t>
            </a:r>
            <a:r>
              <a:rPr lang="en-GB" sz="2800" dirty="0" err="1">
                <a:solidFill>
                  <a:schemeClr val="bg1"/>
                </a:solidFill>
              </a:rPr>
              <a:t>i</a:t>
            </a:r>
            <a:r>
              <a:rPr lang="en-GB" sz="2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6863EA-8B4C-AC9C-DA97-621EAD8F7F04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28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708E09-C041-0BF9-BFBF-E620D48305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74" t="36973" r="9570" b="33782"/>
          <a:stretch>
            <a:fillRect/>
          </a:stretch>
        </p:blipFill>
        <p:spPr>
          <a:xfrm>
            <a:off x="1060314" y="1658964"/>
            <a:ext cx="3268494" cy="21032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8043A0-1EB6-5655-89F9-D8A25D5F2E2B}"/>
              </a:ext>
            </a:extLst>
          </p:cNvPr>
          <p:cNvSpPr txBox="1"/>
          <p:nvPr/>
        </p:nvSpPr>
        <p:spPr>
          <a:xfrm>
            <a:off x="286675" y="992149"/>
            <a:ext cx="1161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2400" dirty="0"/>
              <a:t>Our strategy was to use the geography of the network to integrate mutations</a:t>
            </a:r>
            <a:endParaRPr lang="en-GB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6889E6-F5E7-7EE3-A84B-81416670F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054" y="1880684"/>
            <a:ext cx="7095342" cy="3367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494BD6-2569-CEBE-CDE1-06F9501B5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723" y="5746357"/>
            <a:ext cx="1819405" cy="1006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0E5826-0185-6EA0-DBA6-02B6645B3E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988" t="47080" r="29044" b="45699"/>
          <a:stretch>
            <a:fillRect/>
          </a:stretch>
        </p:blipFill>
        <p:spPr>
          <a:xfrm>
            <a:off x="6367319" y="5405146"/>
            <a:ext cx="778212" cy="2431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206A92-8F8A-7CF2-E4B7-4442ABFC8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5412" y="5687805"/>
            <a:ext cx="3142117" cy="5184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5A5B57-F53A-FD78-C253-39FF3E4F98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789" t="47080" r="18517" b="45903"/>
          <a:stretch>
            <a:fillRect/>
          </a:stretch>
        </p:blipFill>
        <p:spPr>
          <a:xfrm>
            <a:off x="9552561" y="5405146"/>
            <a:ext cx="758756" cy="2363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E523AE3-A26E-D32A-05B0-3131EFAFA5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74" t="36973" r="9570" b="33782"/>
          <a:stretch>
            <a:fillRect/>
          </a:stretch>
        </p:blipFill>
        <p:spPr>
          <a:xfrm>
            <a:off x="1014936" y="4196972"/>
            <a:ext cx="3268494" cy="210320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6ED369-6365-74A4-FF16-36525FB9E934}"/>
              </a:ext>
            </a:extLst>
          </p:cNvPr>
          <p:cNvCxnSpPr/>
          <p:nvPr/>
        </p:nvCxnSpPr>
        <p:spPr>
          <a:xfrm>
            <a:off x="2558374" y="3762169"/>
            <a:ext cx="0" cy="547184"/>
          </a:xfrm>
          <a:prstGeom prst="straightConnector1">
            <a:avLst/>
          </a:prstGeom>
          <a:ln w="5715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56AD31-9985-AE98-139B-BB2D0C586E53}"/>
              </a:ext>
            </a:extLst>
          </p:cNvPr>
          <p:cNvCxnSpPr>
            <a:cxnSpLocks/>
          </p:cNvCxnSpPr>
          <p:nvPr/>
        </p:nvCxnSpPr>
        <p:spPr>
          <a:xfrm>
            <a:off x="2448560" y="4744156"/>
            <a:ext cx="1333500" cy="454880"/>
          </a:xfrm>
          <a:prstGeom prst="line">
            <a:avLst/>
          </a:prstGeom>
          <a:ln w="57150">
            <a:solidFill>
              <a:srgbClr val="A927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CAFA37-7467-A38F-A1D9-69C84AF623C0}"/>
              </a:ext>
            </a:extLst>
          </p:cNvPr>
          <p:cNvCxnSpPr>
            <a:cxnSpLocks/>
          </p:cNvCxnSpPr>
          <p:nvPr/>
        </p:nvCxnSpPr>
        <p:spPr>
          <a:xfrm flipV="1">
            <a:off x="3411220" y="5321300"/>
            <a:ext cx="431800" cy="505460"/>
          </a:xfrm>
          <a:prstGeom prst="line">
            <a:avLst/>
          </a:prstGeom>
          <a:ln w="57150">
            <a:solidFill>
              <a:srgbClr val="A927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FFFF56A-6303-A936-B50F-2670B2CD69AD}"/>
              </a:ext>
            </a:extLst>
          </p:cNvPr>
          <p:cNvCxnSpPr>
            <a:cxnSpLocks/>
          </p:cNvCxnSpPr>
          <p:nvPr/>
        </p:nvCxnSpPr>
        <p:spPr>
          <a:xfrm>
            <a:off x="3380740" y="4752340"/>
            <a:ext cx="442230" cy="358140"/>
          </a:xfrm>
          <a:prstGeom prst="line">
            <a:avLst/>
          </a:prstGeom>
          <a:ln w="57150">
            <a:solidFill>
              <a:srgbClr val="A927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5BF6A422-790B-CB28-3862-AC4ACF930E15}"/>
              </a:ext>
            </a:extLst>
          </p:cNvPr>
          <p:cNvSpPr/>
          <p:nvPr/>
        </p:nvSpPr>
        <p:spPr>
          <a:xfrm>
            <a:off x="3771260" y="5072600"/>
            <a:ext cx="297820" cy="281720"/>
          </a:xfrm>
          <a:prstGeom prst="ellipse">
            <a:avLst/>
          </a:prstGeom>
          <a:solidFill>
            <a:srgbClr val="A927F9"/>
          </a:solidFill>
          <a:ln>
            <a:solidFill>
              <a:srgbClr val="A927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1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7FF91-0D54-A407-8B54-2A23D777A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6B8A4B-38D4-33DC-ACFF-3B4F7EBDCB07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0F2A6-E304-D3C3-6CFB-BA6058AD0A07}"/>
              </a:ext>
            </a:extLst>
          </p:cNvPr>
          <p:cNvSpPr txBox="1"/>
          <p:nvPr/>
        </p:nvSpPr>
        <p:spPr>
          <a:xfrm>
            <a:off x="0" y="32702"/>
            <a:ext cx="6786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Mutation integration, but doing it our way (ii)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2DD6DA-A8E1-6B5D-F5F0-2E1B63AE4E3C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29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B472E-3BF4-2D3A-D136-5E9AE7AC51DD}"/>
              </a:ext>
            </a:extLst>
          </p:cNvPr>
          <p:cNvSpPr txBox="1"/>
          <p:nvPr/>
        </p:nvSpPr>
        <p:spPr>
          <a:xfrm>
            <a:off x="6095999" y="735320"/>
            <a:ext cx="5820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dirty="0"/>
              <a:t>Currently this is very (very) extreme, and makes the networks look heavily biased in terms of connections</a:t>
            </a:r>
            <a:endParaRPr lang="en-GB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BEA76D-4E54-9CA4-2D8B-E70F6CF0D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514"/>
          <a:stretch>
            <a:fillRect/>
          </a:stretch>
        </p:blipFill>
        <p:spPr>
          <a:xfrm>
            <a:off x="5953328" y="1632065"/>
            <a:ext cx="6149341" cy="1724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5DE9A6-56C6-5753-A9D7-BDD97D129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31" y="600202"/>
            <a:ext cx="5679172" cy="62289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A41F39-12E8-6CF3-294B-6AF78C72DC93}"/>
              </a:ext>
            </a:extLst>
          </p:cNvPr>
          <p:cNvSpPr txBox="1"/>
          <p:nvPr/>
        </p:nvSpPr>
        <p:spPr>
          <a:xfrm>
            <a:off x="5985748" y="1381651"/>
            <a:ext cx="582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1600" b="1" dirty="0"/>
              <a:t>Community membership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19A592-8303-62AF-4A83-CEC2F7B63140}"/>
              </a:ext>
            </a:extLst>
          </p:cNvPr>
          <p:cNvSpPr txBox="1"/>
          <p:nvPr/>
        </p:nvSpPr>
        <p:spPr>
          <a:xfrm>
            <a:off x="5982503" y="3285037"/>
            <a:ext cx="582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1600" b="1" dirty="0"/>
              <a:t>Average degree (i.e. connectivity)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5047FF-F47B-B801-20AA-C2F5AD29E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08"/>
          <a:stretch>
            <a:fillRect/>
          </a:stretch>
        </p:blipFill>
        <p:spPr>
          <a:xfrm>
            <a:off x="5931520" y="3623591"/>
            <a:ext cx="6149341" cy="15870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921968-9EA4-CC6D-C7B0-27DAC6979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>
            <a:fillRect/>
          </a:stretch>
        </p:blipFill>
        <p:spPr>
          <a:xfrm>
            <a:off x="8892694" y="1720205"/>
            <a:ext cx="3217342" cy="319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7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6150-5C3E-2045-D148-E3CF5915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3B27D0-93E8-6307-AE28-6A3CBDB5893E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9F2E0-D399-21A0-3608-25E40419D18D}"/>
              </a:ext>
            </a:extLst>
          </p:cNvPr>
          <p:cNvSpPr txBox="1"/>
          <p:nvPr/>
        </p:nvSpPr>
        <p:spPr>
          <a:xfrm>
            <a:off x="0" y="32702"/>
            <a:ext cx="6868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Mutation integration, but doing it our way (iii)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74D9D-48F6-1A6F-AA17-543CDFB741A4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30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485C51-3BC9-D2E4-6B2B-C4302483432D}"/>
              </a:ext>
            </a:extLst>
          </p:cNvPr>
          <p:cNvSpPr txBox="1"/>
          <p:nvPr/>
        </p:nvSpPr>
        <p:spPr>
          <a:xfrm>
            <a:off x="7126237" y="4369736"/>
            <a:ext cx="51459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dirty="0"/>
              <a:t>Focus on the hyperconnected genes (notice that expression remains important – e.g. </a:t>
            </a:r>
            <a:r>
              <a:rPr lang="en-GB" i="1" dirty="0"/>
              <a:t>TP53</a:t>
            </a:r>
            <a:r>
              <a:rPr lang="en-GB" dirty="0"/>
              <a:t> not selected, but </a:t>
            </a:r>
            <a:r>
              <a:rPr lang="en-GB" i="1" dirty="0"/>
              <a:t>TP53BP </a:t>
            </a:r>
            <a:r>
              <a:rPr lang="en-GB" dirty="0"/>
              <a:t>is…)</a:t>
            </a:r>
          </a:p>
          <a:p>
            <a:pPr marL="0" lvl="1"/>
            <a:endParaRPr lang="en-GB" sz="1600" dirty="0"/>
          </a:p>
          <a:p>
            <a:pPr marL="0" lvl="1"/>
            <a:r>
              <a:rPr lang="en-GB" dirty="0"/>
              <a:t>Some of selected genes are not heavily mutated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9E09D6-6C06-E4CD-786D-385F64231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861" y="628336"/>
            <a:ext cx="5281808" cy="1819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6F6F7E-C2D5-E81F-A48E-AE45F300A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31" y="589534"/>
            <a:ext cx="7206406" cy="63011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59BD92-2B88-0432-010E-233F3AC7C78E}"/>
              </a:ext>
            </a:extLst>
          </p:cNvPr>
          <p:cNvSpPr txBox="1"/>
          <p:nvPr/>
        </p:nvSpPr>
        <p:spPr>
          <a:xfrm>
            <a:off x="5631529" y="1985960"/>
            <a:ext cx="781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2400" dirty="0"/>
              <a:t>AHR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2620FD-D38D-D690-C311-CAB75B876AF4}"/>
              </a:ext>
            </a:extLst>
          </p:cNvPr>
          <p:cNvSpPr txBox="1"/>
          <p:nvPr/>
        </p:nvSpPr>
        <p:spPr>
          <a:xfrm>
            <a:off x="6412992" y="3321263"/>
            <a:ext cx="981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2400" dirty="0"/>
              <a:t>FGFR3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3ED75B-F148-103C-3A8C-E497198A58BD}"/>
              </a:ext>
            </a:extLst>
          </p:cNvPr>
          <p:cNvSpPr txBox="1"/>
          <p:nvPr/>
        </p:nvSpPr>
        <p:spPr>
          <a:xfrm>
            <a:off x="5168233" y="826082"/>
            <a:ext cx="1177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2400" dirty="0"/>
              <a:t>CREBBP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3767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25F3-BFA9-D826-6D06-E8F3AD36D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8A912E-D377-1584-A3EF-F2FB7A63E72F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42D38-8373-5F51-F872-2D90D26684F5}"/>
              </a:ext>
            </a:extLst>
          </p:cNvPr>
          <p:cNvSpPr txBox="1"/>
          <p:nvPr/>
        </p:nvSpPr>
        <p:spPr>
          <a:xfrm>
            <a:off x="0" y="32702"/>
            <a:ext cx="6866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Mutation integration, but doing it our way (iv)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469EE9-D5F4-5B66-58D6-49FD6D087AEA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31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4EF9C-2803-B8D8-E192-9EE60BCC1CC7}"/>
              </a:ext>
            </a:extLst>
          </p:cNvPr>
          <p:cNvSpPr txBox="1"/>
          <p:nvPr/>
        </p:nvSpPr>
        <p:spPr>
          <a:xfrm>
            <a:off x="297733" y="735320"/>
            <a:ext cx="1161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2400" dirty="0"/>
              <a:t>Use the 122 genes to stratify TCGA MIBC </a:t>
            </a:r>
            <a:r>
              <a:rPr lang="en-GB" sz="2000" dirty="0">
                <a:sym typeface="Wingdings" panose="05000000000000000000" pitchFamily="2" charset="2"/>
              </a:rPr>
              <a:t></a:t>
            </a:r>
            <a:r>
              <a:rPr lang="en-GB" sz="2400" dirty="0">
                <a:sym typeface="Wingdings" panose="05000000000000000000" pitchFamily="2" charset="2"/>
              </a:rPr>
              <a:t> luminal splits!</a:t>
            </a:r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0F15D2-C71C-C6C6-1980-A9A638D72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73"/>
          <a:stretch>
            <a:fillRect/>
          </a:stretch>
        </p:blipFill>
        <p:spPr>
          <a:xfrm>
            <a:off x="4785939" y="2530039"/>
            <a:ext cx="6374359" cy="2921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DC2FB9-80D1-AEA7-ABFC-012625E19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1" b="51677"/>
          <a:stretch>
            <a:fillRect/>
          </a:stretch>
        </p:blipFill>
        <p:spPr>
          <a:xfrm>
            <a:off x="529227" y="1294230"/>
            <a:ext cx="3857578" cy="443723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A58E03-44D2-FD7E-23B0-27CEB75EE0BD}"/>
              </a:ext>
            </a:extLst>
          </p:cNvPr>
          <p:cNvSpPr/>
          <p:nvPr/>
        </p:nvSpPr>
        <p:spPr>
          <a:xfrm>
            <a:off x="468145" y="4789217"/>
            <a:ext cx="335280" cy="369332"/>
          </a:xfrm>
          <a:prstGeom prst="round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087445-EBC7-3030-B2EF-199E9003EC5A}"/>
              </a:ext>
            </a:extLst>
          </p:cNvPr>
          <p:cNvCxnSpPr>
            <a:cxnSpLocks/>
          </p:cNvCxnSpPr>
          <p:nvPr/>
        </p:nvCxnSpPr>
        <p:spPr>
          <a:xfrm flipV="1">
            <a:off x="803425" y="3657600"/>
            <a:ext cx="5724697" cy="1316283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19BB0C5-EDBB-62CC-48BE-028E3BE1F1F7}"/>
              </a:ext>
            </a:extLst>
          </p:cNvPr>
          <p:cNvSpPr txBox="1"/>
          <p:nvPr/>
        </p:nvSpPr>
        <p:spPr>
          <a:xfrm>
            <a:off x="5003883" y="1890372"/>
            <a:ext cx="6374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2400" dirty="0"/>
              <a:t>Small </a:t>
            </a:r>
            <a:r>
              <a:rPr lang="en-GB" sz="2400" dirty="0" err="1"/>
              <a:t>LumP</a:t>
            </a:r>
            <a:r>
              <a:rPr lang="en-GB" sz="2400" dirty="0"/>
              <a:t> group with poorest Luminal survival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1323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2FDF0-9ADA-FC4A-E144-7FDAA7A66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C09674-7801-AAE2-3188-21ABB33D0E5B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844BE1-D944-4103-E62D-188A9C093739}"/>
              </a:ext>
            </a:extLst>
          </p:cNvPr>
          <p:cNvSpPr txBox="1"/>
          <p:nvPr/>
        </p:nvSpPr>
        <p:spPr>
          <a:xfrm>
            <a:off x="0" y="32702"/>
            <a:ext cx="6866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Mutation integration, but doing it our way (v)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2AAB72-3B1D-4D97-DDDA-97E3242B2043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32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2F68E-18FA-4B6A-EBF4-F54F85CDA0AF}"/>
              </a:ext>
            </a:extLst>
          </p:cNvPr>
          <p:cNvSpPr txBox="1"/>
          <p:nvPr/>
        </p:nvSpPr>
        <p:spPr>
          <a:xfrm>
            <a:off x="297733" y="735320"/>
            <a:ext cx="116186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413" lvl="1"/>
            <a:r>
              <a:rPr lang="en-GB" sz="2400" dirty="0"/>
              <a:t>Enrichment of IGF1R signalling</a:t>
            </a:r>
          </a:p>
          <a:p>
            <a:pPr marL="252413" lvl="1"/>
            <a:endParaRPr lang="en-GB" sz="600" dirty="0"/>
          </a:p>
          <a:p>
            <a:pPr marL="252413" lvl="1"/>
            <a:r>
              <a:rPr lang="en-GB" dirty="0"/>
              <a:t>Overrepresentation of KRAS and NRAS mutants</a:t>
            </a:r>
          </a:p>
          <a:p>
            <a:pPr marL="252413" lvl="1"/>
            <a:r>
              <a:rPr lang="en-GB" dirty="0"/>
              <a:t>PI3K overactivity (no overlap with NRF2 group…)</a:t>
            </a:r>
          </a:p>
          <a:p>
            <a:pPr marL="252413" lvl="1"/>
            <a:r>
              <a:rPr lang="en-GB" dirty="0"/>
              <a:t>Slightly elevated IGF2 expression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9B9A6E-A858-A9B8-5C7F-7A8064277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439" y="2265175"/>
            <a:ext cx="3971238" cy="1167733"/>
          </a:xfrm>
          <a:prstGeom prst="rect">
            <a:avLst/>
          </a:prstGeom>
        </p:spPr>
      </p:pic>
      <p:pic>
        <p:nvPicPr>
          <p:cNvPr id="3074" name="Picture 2" descr="Figure 1">
            <a:extLst>
              <a:ext uri="{FF2B5EF4-FFF2-40B4-BE49-F238E27FC236}">
                <a16:creationId xmlns:a16="http://schemas.microsoft.com/office/drawing/2014/main" id="{4F1D4EF3-D14C-CAB0-FD74-8E77E4F95B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" t="5037" r="1932" b="2448"/>
          <a:stretch>
            <a:fillRect/>
          </a:stretch>
        </p:blipFill>
        <p:spPr bwMode="auto">
          <a:xfrm>
            <a:off x="8161668" y="1024808"/>
            <a:ext cx="3732600" cy="447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DB713D-A927-962F-A044-1E1462C47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323" y="4213696"/>
            <a:ext cx="3482642" cy="6325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584DF4-48A2-1799-4F46-177E228FE995}"/>
              </a:ext>
            </a:extLst>
          </p:cNvPr>
          <p:cNvSpPr txBox="1"/>
          <p:nvPr/>
        </p:nvSpPr>
        <p:spPr>
          <a:xfrm>
            <a:off x="4195620" y="3947261"/>
            <a:ext cx="3971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dirty="0" err="1"/>
              <a:t>DepMap</a:t>
            </a:r>
            <a:r>
              <a:rPr lang="en-GB" dirty="0"/>
              <a:t> CRISPR Chronos scores (IGF1R)</a:t>
            </a: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6D7CE3-7602-BDBE-9BDC-A027014B48D1}"/>
              </a:ext>
            </a:extLst>
          </p:cNvPr>
          <p:cNvSpPr txBox="1"/>
          <p:nvPr/>
        </p:nvSpPr>
        <p:spPr>
          <a:xfrm>
            <a:off x="4215940" y="4631362"/>
            <a:ext cx="78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1400" dirty="0"/>
              <a:t>UMUC1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ED57F-C842-A5EC-A905-FDD05F3BE8E8}"/>
              </a:ext>
            </a:extLst>
          </p:cNvPr>
          <p:cNvSpPr txBox="1"/>
          <p:nvPr/>
        </p:nvSpPr>
        <p:spPr>
          <a:xfrm>
            <a:off x="5416366" y="4631362"/>
            <a:ext cx="782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1400" dirty="0"/>
              <a:t>RT112</a:t>
            </a:r>
            <a:endParaRPr lang="en-GB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99362-9C81-EB1E-94E7-BBF29F06FF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1" r="9068"/>
          <a:stretch>
            <a:fillRect/>
          </a:stretch>
        </p:blipFill>
        <p:spPr>
          <a:xfrm>
            <a:off x="649356" y="2051167"/>
            <a:ext cx="3054254" cy="31239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36EB09-3653-FC36-CA39-295F52DD6405}"/>
              </a:ext>
            </a:extLst>
          </p:cNvPr>
          <p:cNvSpPr txBox="1"/>
          <p:nvPr/>
        </p:nvSpPr>
        <p:spPr>
          <a:xfrm>
            <a:off x="622374" y="5497528"/>
            <a:ext cx="61624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Phase 2/3 trials with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linsitinib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(IGF1R inhibitor) had mixed results in lung and prostate adenocarcinoma, Ewing’s sarcoma and even adrenocortical carcinoma, where 90% of patients have 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IGF2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(IGF1R ligand) overexpression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003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49719-F78B-FC3F-2C34-668FCEFB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BDEEF7-F69C-0C6F-6BB7-F493431B3B86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0DE27-9F91-49E4-D5AF-B3E69933A5F0}"/>
              </a:ext>
            </a:extLst>
          </p:cNvPr>
          <p:cNvSpPr txBox="1"/>
          <p:nvPr/>
        </p:nvSpPr>
        <p:spPr>
          <a:xfrm>
            <a:off x="0" y="32702"/>
            <a:ext cx="4428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Addressing the clinical reality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1A608-E637-17FA-84DF-E2D8A27BD4B6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33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5E035E-A431-2BD9-04F0-F418A1823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229" y="1478254"/>
            <a:ext cx="6847867" cy="407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7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E89D6-F762-AA16-7D7F-59FBA5C5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D902CA-EFEF-01EA-18D2-6F5F68E255B8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EFF479-D992-4446-7828-BB22D5AB3664}"/>
              </a:ext>
            </a:extLst>
          </p:cNvPr>
          <p:cNvSpPr txBox="1"/>
          <p:nvPr/>
        </p:nvSpPr>
        <p:spPr>
          <a:xfrm>
            <a:off x="0" y="32702"/>
            <a:ext cx="4428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Addressing the clinical reality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25B10C-6682-33AF-AC9C-7E85C2C74DE8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34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31740C-C52C-DDC1-4138-2353BA889A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39229" y="1478254"/>
            <a:ext cx="6847867" cy="40775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A712F0-366C-421E-3BCE-D8CA59A0E709}"/>
              </a:ext>
            </a:extLst>
          </p:cNvPr>
          <p:cNvSpPr/>
          <p:nvPr/>
        </p:nvSpPr>
        <p:spPr>
          <a:xfrm>
            <a:off x="5104435" y="1478254"/>
            <a:ext cx="3530279" cy="3545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212C87-A96C-7F5F-72C8-C11C2DEF833A}"/>
              </a:ext>
            </a:extLst>
          </p:cNvPr>
          <p:cNvSpPr/>
          <p:nvPr/>
        </p:nvSpPr>
        <p:spPr>
          <a:xfrm>
            <a:off x="4030492" y="2228218"/>
            <a:ext cx="988979" cy="762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DAFA0E-5FCF-6AEC-CD4D-8BE0A31CF2C7}"/>
              </a:ext>
            </a:extLst>
          </p:cNvPr>
          <p:cNvSpPr/>
          <p:nvPr/>
        </p:nvSpPr>
        <p:spPr>
          <a:xfrm>
            <a:off x="6657046" y="1935011"/>
            <a:ext cx="212528" cy="341609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E9CFAE-6D4B-F062-3A09-D574B0CBD0F8}"/>
              </a:ext>
            </a:extLst>
          </p:cNvPr>
          <p:cNvSpPr/>
          <p:nvPr/>
        </p:nvSpPr>
        <p:spPr>
          <a:xfrm>
            <a:off x="6653582" y="3197011"/>
            <a:ext cx="212528" cy="156954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4096F0-CD13-A740-030A-F8DB92B76A33}"/>
              </a:ext>
            </a:extLst>
          </p:cNvPr>
          <p:cNvSpPr/>
          <p:nvPr/>
        </p:nvSpPr>
        <p:spPr>
          <a:xfrm>
            <a:off x="6650118" y="4824908"/>
            <a:ext cx="219456" cy="227836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C8A750-21FC-D407-1011-B93DE2E7FE6A}"/>
              </a:ext>
            </a:extLst>
          </p:cNvPr>
          <p:cNvSpPr/>
          <p:nvPr/>
        </p:nvSpPr>
        <p:spPr>
          <a:xfrm>
            <a:off x="5162803" y="1935011"/>
            <a:ext cx="212528" cy="3879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F79D75-91BF-EA6C-A334-DC3AE5E313DA}"/>
              </a:ext>
            </a:extLst>
          </p:cNvPr>
          <p:cNvSpPr/>
          <p:nvPr/>
        </p:nvSpPr>
        <p:spPr>
          <a:xfrm>
            <a:off x="5162803" y="2510003"/>
            <a:ext cx="219456" cy="16764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136D64A-ACED-0379-8933-54F8263C374F}"/>
              </a:ext>
            </a:extLst>
          </p:cNvPr>
          <p:cNvSpPr/>
          <p:nvPr/>
        </p:nvSpPr>
        <p:spPr>
          <a:xfrm>
            <a:off x="5162803" y="2821021"/>
            <a:ext cx="212528" cy="22081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76C896-5C22-164D-04D6-64352C2301C3}"/>
              </a:ext>
            </a:extLst>
          </p:cNvPr>
          <p:cNvSpPr/>
          <p:nvPr/>
        </p:nvSpPr>
        <p:spPr>
          <a:xfrm>
            <a:off x="3992050" y="3359513"/>
            <a:ext cx="988979" cy="1294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1111F75-CB5D-D6B0-2F20-79297938A7EE}"/>
              </a:ext>
            </a:extLst>
          </p:cNvPr>
          <p:cNvSpPr/>
          <p:nvPr/>
        </p:nvSpPr>
        <p:spPr>
          <a:xfrm>
            <a:off x="6657046" y="2490549"/>
            <a:ext cx="212528" cy="121922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359D027-37A5-0A7E-C1D9-6E128C4BBB5E}"/>
              </a:ext>
            </a:extLst>
          </p:cNvPr>
          <p:cNvSpPr/>
          <p:nvPr/>
        </p:nvSpPr>
        <p:spPr>
          <a:xfrm>
            <a:off x="6657046" y="2779724"/>
            <a:ext cx="212528" cy="387956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523FD1-0E5C-7671-A930-83FDCA3715A2}"/>
              </a:ext>
            </a:extLst>
          </p:cNvPr>
          <p:cNvSpPr/>
          <p:nvPr/>
        </p:nvSpPr>
        <p:spPr>
          <a:xfrm>
            <a:off x="7993485" y="3317966"/>
            <a:ext cx="212528" cy="232629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9587E23-15C9-AE33-A97A-1132A1B88B76}"/>
              </a:ext>
            </a:extLst>
          </p:cNvPr>
          <p:cNvSpPr/>
          <p:nvPr/>
        </p:nvSpPr>
        <p:spPr>
          <a:xfrm>
            <a:off x="7993485" y="3599237"/>
            <a:ext cx="212528" cy="680396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62CE15F-F83B-36C6-81D6-E98A32392CC4}"/>
              </a:ext>
            </a:extLst>
          </p:cNvPr>
          <p:cNvSpPr/>
          <p:nvPr/>
        </p:nvSpPr>
        <p:spPr>
          <a:xfrm>
            <a:off x="7993485" y="4328275"/>
            <a:ext cx="219456" cy="325648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53FF46B-B78D-2307-D5E3-D7A5C171303C}"/>
              </a:ext>
            </a:extLst>
          </p:cNvPr>
          <p:cNvSpPr/>
          <p:nvPr/>
        </p:nvSpPr>
        <p:spPr>
          <a:xfrm>
            <a:off x="6653236" y="2646576"/>
            <a:ext cx="219456" cy="18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5A901B0-FCAC-560B-532E-174FD23084D9}"/>
              </a:ext>
            </a:extLst>
          </p:cNvPr>
          <p:cNvSpPr/>
          <p:nvPr/>
        </p:nvSpPr>
        <p:spPr>
          <a:xfrm>
            <a:off x="6657046" y="2617245"/>
            <a:ext cx="212528" cy="18000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189818C-9F1D-7061-B0DE-7321E620C6D7}"/>
              </a:ext>
            </a:extLst>
          </p:cNvPr>
          <p:cNvSpPr/>
          <p:nvPr/>
        </p:nvSpPr>
        <p:spPr>
          <a:xfrm>
            <a:off x="9407307" y="3807624"/>
            <a:ext cx="199522" cy="70956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DFA5517-BA6B-3D78-069F-19A1F27B8311}"/>
              </a:ext>
            </a:extLst>
          </p:cNvPr>
          <p:cNvSpPr/>
          <p:nvPr/>
        </p:nvSpPr>
        <p:spPr>
          <a:xfrm>
            <a:off x="9407306" y="3941521"/>
            <a:ext cx="205925" cy="150420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DD38FB0-EE19-365B-83AD-4ECB80D60870}"/>
              </a:ext>
            </a:extLst>
          </p:cNvPr>
          <p:cNvSpPr/>
          <p:nvPr/>
        </p:nvSpPr>
        <p:spPr>
          <a:xfrm>
            <a:off x="9400540" y="4135394"/>
            <a:ext cx="212691" cy="413746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830AF90-7B79-29AF-7EFE-9BE264FE3D09}"/>
              </a:ext>
            </a:extLst>
          </p:cNvPr>
          <p:cNvCxnSpPr/>
          <p:nvPr/>
        </p:nvCxnSpPr>
        <p:spPr>
          <a:xfrm>
            <a:off x="4175760" y="3550596"/>
            <a:ext cx="784860" cy="2560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9337051-6EED-9610-A6D4-AC22CF54C983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4196169" y="2609550"/>
            <a:ext cx="823302" cy="2187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324A02B-8C75-9535-6B50-606D3A1849F1}"/>
              </a:ext>
            </a:extLst>
          </p:cNvPr>
          <p:cNvCxnSpPr>
            <a:cxnSpLocks/>
          </p:cNvCxnSpPr>
          <p:nvPr/>
        </p:nvCxnSpPr>
        <p:spPr>
          <a:xfrm flipV="1">
            <a:off x="4196169" y="2196851"/>
            <a:ext cx="823302" cy="2187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20C4052-38EB-0255-EE0D-A47179E72032}"/>
              </a:ext>
            </a:extLst>
          </p:cNvPr>
          <p:cNvSpPr txBox="1"/>
          <p:nvPr/>
        </p:nvSpPr>
        <p:spPr>
          <a:xfrm>
            <a:off x="5677598" y="1955632"/>
            <a:ext cx="732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5FBC92-B539-7484-93C1-6B3677BC573B}"/>
              </a:ext>
            </a:extLst>
          </p:cNvPr>
          <p:cNvSpPr txBox="1"/>
          <p:nvPr/>
        </p:nvSpPr>
        <p:spPr>
          <a:xfrm>
            <a:off x="5680554" y="2408036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E61D50-6344-7E05-39AB-45336A0C6D02}"/>
              </a:ext>
            </a:extLst>
          </p:cNvPr>
          <p:cNvSpPr txBox="1"/>
          <p:nvPr/>
        </p:nvSpPr>
        <p:spPr>
          <a:xfrm>
            <a:off x="5681721" y="3595644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8CE290-4C89-DE92-AA0C-FC3F7D0E4585}"/>
              </a:ext>
            </a:extLst>
          </p:cNvPr>
          <p:cNvSpPr txBox="1"/>
          <p:nvPr/>
        </p:nvSpPr>
        <p:spPr>
          <a:xfrm>
            <a:off x="7032606" y="3842858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058D3F-55CA-DFE3-D7A7-251A7ACF189C}"/>
              </a:ext>
            </a:extLst>
          </p:cNvPr>
          <p:cNvSpPr txBox="1"/>
          <p:nvPr/>
        </p:nvSpPr>
        <p:spPr>
          <a:xfrm>
            <a:off x="8427431" y="3852828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6E4AA6B-6496-F9BC-01E3-38BD7FF0CA36}"/>
              </a:ext>
            </a:extLst>
          </p:cNvPr>
          <p:cNvCxnSpPr>
            <a:cxnSpLocks/>
          </p:cNvCxnSpPr>
          <p:nvPr/>
        </p:nvCxnSpPr>
        <p:spPr>
          <a:xfrm>
            <a:off x="5509063" y="2128989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DE5FFCD-FC73-4E57-B4EC-692FCDC2C8F8}"/>
              </a:ext>
            </a:extLst>
          </p:cNvPr>
          <p:cNvCxnSpPr>
            <a:cxnSpLocks/>
          </p:cNvCxnSpPr>
          <p:nvPr/>
        </p:nvCxnSpPr>
        <p:spPr>
          <a:xfrm>
            <a:off x="5527351" y="2581631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CC74447-509C-B7C9-0CDE-F8DD769F8ABA}"/>
              </a:ext>
            </a:extLst>
          </p:cNvPr>
          <p:cNvCxnSpPr>
            <a:cxnSpLocks/>
          </p:cNvCxnSpPr>
          <p:nvPr/>
        </p:nvCxnSpPr>
        <p:spPr>
          <a:xfrm>
            <a:off x="5515886" y="3761724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D93B856-1BD9-F086-3DDF-3FE38F4AEBB8}"/>
              </a:ext>
            </a:extLst>
          </p:cNvPr>
          <p:cNvCxnSpPr>
            <a:cxnSpLocks/>
          </p:cNvCxnSpPr>
          <p:nvPr/>
        </p:nvCxnSpPr>
        <p:spPr>
          <a:xfrm>
            <a:off x="6377265" y="2113396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37E9EFE-5DCC-C500-562E-3C22A90A3EF2}"/>
              </a:ext>
            </a:extLst>
          </p:cNvPr>
          <p:cNvCxnSpPr>
            <a:cxnSpLocks/>
          </p:cNvCxnSpPr>
          <p:nvPr/>
        </p:nvCxnSpPr>
        <p:spPr>
          <a:xfrm>
            <a:off x="6394962" y="2572200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FAD97A0-B145-6DBA-58AB-F69C573B391F}"/>
              </a:ext>
            </a:extLst>
          </p:cNvPr>
          <p:cNvCxnSpPr>
            <a:cxnSpLocks/>
          </p:cNvCxnSpPr>
          <p:nvPr/>
        </p:nvCxnSpPr>
        <p:spPr>
          <a:xfrm>
            <a:off x="6376083" y="3749532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1392E88-6CB3-4D1B-374F-FF86495216A9}"/>
              </a:ext>
            </a:extLst>
          </p:cNvPr>
          <p:cNvCxnSpPr>
            <a:cxnSpLocks/>
          </p:cNvCxnSpPr>
          <p:nvPr/>
        </p:nvCxnSpPr>
        <p:spPr>
          <a:xfrm>
            <a:off x="6930414" y="3996746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476677E-31EA-0066-CB42-FB4B605030F4}"/>
              </a:ext>
            </a:extLst>
          </p:cNvPr>
          <p:cNvCxnSpPr>
            <a:cxnSpLocks/>
          </p:cNvCxnSpPr>
          <p:nvPr/>
        </p:nvCxnSpPr>
        <p:spPr>
          <a:xfrm flipV="1">
            <a:off x="6353864" y="3197011"/>
            <a:ext cx="221098" cy="4124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A204E6F-1379-0462-0FFD-F0E3E99390F4}"/>
              </a:ext>
            </a:extLst>
          </p:cNvPr>
          <p:cNvCxnSpPr>
            <a:cxnSpLocks/>
          </p:cNvCxnSpPr>
          <p:nvPr/>
        </p:nvCxnSpPr>
        <p:spPr>
          <a:xfrm>
            <a:off x="6366774" y="3919687"/>
            <a:ext cx="189309" cy="9003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FCE9E4F-1425-A432-B5A9-32FDA5366ADE}"/>
              </a:ext>
            </a:extLst>
          </p:cNvPr>
          <p:cNvCxnSpPr>
            <a:cxnSpLocks/>
          </p:cNvCxnSpPr>
          <p:nvPr/>
        </p:nvCxnSpPr>
        <p:spPr>
          <a:xfrm>
            <a:off x="7723037" y="4000612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A6BB7A6-38F1-219C-FF03-0A7D091F968B}"/>
              </a:ext>
            </a:extLst>
          </p:cNvPr>
          <p:cNvCxnSpPr>
            <a:cxnSpLocks/>
          </p:cNvCxnSpPr>
          <p:nvPr/>
        </p:nvCxnSpPr>
        <p:spPr>
          <a:xfrm flipV="1">
            <a:off x="7721002" y="3468177"/>
            <a:ext cx="219535" cy="3702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4B4C685-0C5A-1B81-22CB-6BDDD1B18FEE}"/>
              </a:ext>
            </a:extLst>
          </p:cNvPr>
          <p:cNvCxnSpPr>
            <a:cxnSpLocks/>
          </p:cNvCxnSpPr>
          <p:nvPr/>
        </p:nvCxnSpPr>
        <p:spPr>
          <a:xfrm>
            <a:off x="7746673" y="4195231"/>
            <a:ext cx="172748" cy="2776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B7A1C74-DEC8-5999-F3CA-B91B8FC6D0DC}"/>
              </a:ext>
            </a:extLst>
          </p:cNvPr>
          <p:cNvCxnSpPr>
            <a:cxnSpLocks/>
          </p:cNvCxnSpPr>
          <p:nvPr/>
        </p:nvCxnSpPr>
        <p:spPr>
          <a:xfrm>
            <a:off x="8276471" y="4008233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2E812E1-2A6B-C15C-D80E-6F6FB6BAAF63}"/>
              </a:ext>
            </a:extLst>
          </p:cNvPr>
          <p:cNvCxnSpPr>
            <a:cxnSpLocks/>
          </p:cNvCxnSpPr>
          <p:nvPr/>
        </p:nvCxnSpPr>
        <p:spPr>
          <a:xfrm>
            <a:off x="9139462" y="4008233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83740C6-5C02-AAF7-DDF1-4CF025614F50}"/>
              </a:ext>
            </a:extLst>
          </p:cNvPr>
          <p:cNvCxnSpPr>
            <a:cxnSpLocks/>
          </p:cNvCxnSpPr>
          <p:nvPr/>
        </p:nvCxnSpPr>
        <p:spPr>
          <a:xfrm flipV="1">
            <a:off x="9139462" y="3842858"/>
            <a:ext cx="198577" cy="530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FDFAD47-4833-5E06-83BC-44B33DFEB546}"/>
              </a:ext>
            </a:extLst>
          </p:cNvPr>
          <p:cNvCxnSpPr>
            <a:cxnSpLocks/>
          </p:cNvCxnSpPr>
          <p:nvPr/>
        </p:nvCxnSpPr>
        <p:spPr>
          <a:xfrm>
            <a:off x="9139462" y="4144898"/>
            <a:ext cx="212939" cy="1347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FE992B6-D86D-A883-29DE-05E032A80920}"/>
              </a:ext>
            </a:extLst>
          </p:cNvPr>
          <p:cNvSpPr txBox="1"/>
          <p:nvPr/>
        </p:nvSpPr>
        <p:spPr>
          <a:xfrm>
            <a:off x="297733" y="735320"/>
            <a:ext cx="11442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 my view, this is closer to genuine precision oncology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E287D0B9-8DB9-D493-3916-BE2124DFFBC4}"/>
              </a:ext>
            </a:extLst>
          </p:cNvPr>
          <p:cNvSpPr/>
          <p:nvPr/>
        </p:nvSpPr>
        <p:spPr>
          <a:xfrm>
            <a:off x="6657046" y="2287571"/>
            <a:ext cx="219456" cy="18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8700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E17C-CC57-D632-6CB0-2C20C7714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D2F433-58C4-9442-BFE8-EF65CA519F15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F25E17-91AD-CEE6-BA67-EC936D60B483}"/>
              </a:ext>
            </a:extLst>
          </p:cNvPr>
          <p:cNvSpPr txBox="1"/>
          <p:nvPr/>
        </p:nvSpPr>
        <p:spPr>
          <a:xfrm>
            <a:off x="0" y="32702"/>
            <a:ext cx="4428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Addressing the clinical reality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3F50D-12E2-8F2C-6045-4ACA2A0145B0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35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2F32F9-B212-EE7F-CE39-2D2E780DF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39229" y="1478254"/>
            <a:ext cx="6847867" cy="40775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C26CC3-5781-02BA-2419-F326258C334E}"/>
              </a:ext>
            </a:extLst>
          </p:cNvPr>
          <p:cNvSpPr/>
          <p:nvPr/>
        </p:nvSpPr>
        <p:spPr>
          <a:xfrm>
            <a:off x="5104435" y="1478254"/>
            <a:ext cx="3530279" cy="3545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99D0B3-0ED3-2620-9212-D1B2DAE87CD5}"/>
              </a:ext>
            </a:extLst>
          </p:cNvPr>
          <p:cNvSpPr/>
          <p:nvPr/>
        </p:nvSpPr>
        <p:spPr>
          <a:xfrm>
            <a:off x="4030492" y="2228218"/>
            <a:ext cx="988979" cy="762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A22891-A255-9204-817D-696E3310D5AD}"/>
              </a:ext>
            </a:extLst>
          </p:cNvPr>
          <p:cNvSpPr/>
          <p:nvPr/>
        </p:nvSpPr>
        <p:spPr>
          <a:xfrm>
            <a:off x="6657046" y="1935011"/>
            <a:ext cx="212528" cy="341609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886E25-44DB-E919-8A28-84A1908A932D}"/>
              </a:ext>
            </a:extLst>
          </p:cNvPr>
          <p:cNvSpPr/>
          <p:nvPr/>
        </p:nvSpPr>
        <p:spPr>
          <a:xfrm>
            <a:off x="6653236" y="2987694"/>
            <a:ext cx="212528" cy="1080431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FAEE2A-6FF8-7A5D-E5AC-BF1EB291C8BB}"/>
              </a:ext>
            </a:extLst>
          </p:cNvPr>
          <p:cNvSpPr/>
          <p:nvPr/>
        </p:nvSpPr>
        <p:spPr>
          <a:xfrm>
            <a:off x="6647183" y="4102641"/>
            <a:ext cx="219456" cy="33369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130CF6-6AD0-C67B-AA7A-A358C6D4A52F}"/>
              </a:ext>
            </a:extLst>
          </p:cNvPr>
          <p:cNvSpPr/>
          <p:nvPr/>
        </p:nvSpPr>
        <p:spPr>
          <a:xfrm>
            <a:off x="5162803" y="1935011"/>
            <a:ext cx="212528" cy="3879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075CCB-D82D-B147-FBE7-C569830C7F46}"/>
              </a:ext>
            </a:extLst>
          </p:cNvPr>
          <p:cNvSpPr/>
          <p:nvPr/>
        </p:nvSpPr>
        <p:spPr>
          <a:xfrm>
            <a:off x="5162803" y="2510003"/>
            <a:ext cx="219456" cy="16764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D58D6FC-BB06-E95B-B137-CCF03E5B0EB4}"/>
              </a:ext>
            </a:extLst>
          </p:cNvPr>
          <p:cNvSpPr/>
          <p:nvPr/>
        </p:nvSpPr>
        <p:spPr>
          <a:xfrm>
            <a:off x="5166267" y="4542534"/>
            <a:ext cx="212528" cy="2294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4B261C-D7F5-F59B-CA6C-5E16F0440FA5}"/>
              </a:ext>
            </a:extLst>
          </p:cNvPr>
          <p:cNvSpPr/>
          <p:nvPr/>
        </p:nvSpPr>
        <p:spPr>
          <a:xfrm>
            <a:off x="3992050" y="3359513"/>
            <a:ext cx="988979" cy="1294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9D6F140-FE72-1A2C-4F44-A43D866B536C}"/>
              </a:ext>
            </a:extLst>
          </p:cNvPr>
          <p:cNvSpPr/>
          <p:nvPr/>
        </p:nvSpPr>
        <p:spPr>
          <a:xfrm>
            <a:off x="6657046" y="2490549"/>
            <a:ext cx="212528" cy="121922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15D03B9-8361-1481-F715-C15604C4BE4C}"/>
              </a:ext>
            </a:extLst>
          </p:cNvPr>
          <p:cNvSpPr/>
          <p:nvPr/>
        </p:nvSpPr>
        <p:spPr>
          <a:xfrm>
            <a:off x="6656700" y="2743127"/>
            <a:ext cx="212528" cy="197799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387836E-6056-2971-B083-C89B72E93F96}"/>
              </a:ext>
            </a:extLst>
          </p:cNvPr>
          <p:cNvSpPr/>
          <p:nvPr/>
        </p:nvSpPr>
        <p:spPr>
          <a:xfrm>
            <a:off x="7993139" y="2971406"/>
            <a:ext cx="212528" cy="161592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241D2AA-DFFA-B51A-133D-2CEC4C6D55BF}"/>
              </a:ext>
            </a:extLst>
          </p:cNvPr>
          <p:cNvSpPr/>
          <p:nvPr/>
        </p:nvSpPr>
        <p:spPr>
          <a:xfrm>
            <a:off x="7993139" y="3181640"/>
            <a:ext cx="212528" cy="492704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6C47B0F-66E0-DB41-F5B1-EC865A1FCEC5}"/>
              </a:ext>
            </a:extLst>
          </p:cNvPr>
          <p:cNvSpPr/>
          <p:nvPr/>
        </p:nvSpPr>
        <p:spPr>
          <a:xfrm>
            <a:off x="7993139" y="3722718"/>
            <a:ext cx="219456" cy="325648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7EA2FFB-22B0-9513-BF35-A1EF2E164677}"/>
              </a:ext>
            </a:extLst>
          </p:cNvPr>
          <p:cNvSpPr/>
          <p:nvPr/>
        </p:nvSpPr>
        <p:spPr>
          <a:xfrm>
            <a:off x="6653236" y="2646576"/>
            <a:ext cx="219456" cy="18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295B787-8063-A43E-62E3-2079042ADFA6}"/>
              </a:ext>
            </a:extLst>
          </p:cNvPr>
          <p:cNvSpPr/>
          <p:nvPr/>
        </p:nvSpPr>
        <p:spPr>
          <a:xfrm>
            <a:off x="6657046" y="2617245"/>
            <a:ext cx="212528" cy="18000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3D16EF5-A6A7-90F9-6DD2-1C85943B8796}"/>
              </a:ext>
            </a:extLst>
          </p:cNvPr>
          <p:cNvSpPr/>
          <p:nvPr/>
        </p:nvSpPr>
        <p:spPr>
          <a:xfrm>
            <a:off x="9406961" y="3196987"/>
            <a:ext cx="199522" cy="18000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4AF5C9F-715C-7459-4C0B-1474122BE4C8}"/>
              </a:ext>
            </a:extLst>
          </p:cNvPr>
          <p:cNvSpPr/>
          <p:nvPr/>
        </p:nvSpPr>
        <p:spPr>
          <a:xfrm>
            <a:off x="9406960" y="3229284"/>
            <a:ext cx="205925" cy="78420"/>
          </a:xfrm>
          <a:prstGeom prst="roundRect">
            <a:avLst/>
          </a:prstGeom>
          <a:solidFill>
            <a:srgbClr val="FFC00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AD0D08C-8D6F-B398-07EE-BA6E91429542}"/>
              </a:ext>
            </a:extLst>
          </p:cNvPr>
          <p:cNvSpPr/>
          <p:nvPr/>
        </p:nvSpPr>
        <p:spPr>
          <a:xfrm>
            <a:off x="9402734" y="3310178"/>
            <a:ext cx="212691" cy="364166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98D0A8C-8D98-CA19-090D-7EAD073A8A11}"/>
              </a:ext>
            </a:extLst>
          </p:cNvPr>
          <p:cNvCxnSpPr/>
          <p:nvPr/>
        </p:nvCxnSpPr>
        <p:spPr>
          <a:xfrm>
            <a:off x="4175760" y="3550596"/>
            <a:ext cx="784860" cy="2560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B7360A6-D477-8C41-A682-B36697215FC5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4196169" y="2609550"/>
            <a:ext cx="823302" cy="2187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0C871D4-D631-A7BE-8178-D2ED5550F605}"/>
              </a:ext>
            </a:extLst>
          </p:cNvPr>
          <p:cNvCxnSpPr>
            <a:cxnSpLocks/>
          </p:cNvCxnSpPr>
          <p:nvPr/>
        </p:nvCxnSpPr>
        <p:spPr>
          <a:xfrm flipV="1">
            <a:off x="4196169" y="2196851"/>
            <a:ext cx="823302" cy="2187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0147BA6-B04B-3606-29CA-2F3DB284BF45}"/>
              </a:ext>
            </a:extLst>
          </p:cNvPr>
          <p:cNvSpPr txBox="1"/>
          <p:nvPr/>
        </p:nvSpPr>
        <p:spPr>
          <a:xfrm>
            <a:off x="5677598" y="1955632"/>
            <a:ext cx="732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E00FAF-CEB3-6E47-72AA-4266E574E796}"/>
              </a:ext>
            </a:extLst>
          </p:cNvPr>
          <p:cNvSpPr txBox="1"/>
          <p:nvPr/>
        </p:nvSpPr>
        <p:spPr>
          <a:xfrm>
            <a:off x="5680554" y="2408036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3366EC-EDBF-C0F7-EE0B-8C90C9F0521F}"/>
              </a:ext>
            </a:extLst>
          </p:cNvPr>
          <p:cNvSpPr txBox="1"/>
          <p:nvPr/>
        </p:nvSpPr>
        <p:spPr>
          <a:xfrm>
            <a:off x="5681375" y="3391407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35F38A-EACB-36DA-2013-72840F5713C8}"/>
              </a:ext>
            </a:extLst>
          </p:cNvPr>
          <p:cNvSpPr txBox="1"/>
          <p:nvPr/>
        </p:nvSpPr>
        <p:spPr>
          <a:xfrm>
            <a:off x="7032260" y="3394781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FDB42F-8F82-3F6B-64F9-9A96A1918A4C}"/>
              </a:ext>
            </a:extLst>
          </p:cNvPr>
          <p:cNvSpPr txBox="1"/>
          <p:nvPr/>
        </p:nvSpPr>
        <p:spPr>
          <a:xfrm>
            <a:off x="8427085" y="3282831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3F6CD54-FE15-59CB-3854-7AE2E323A12F}"/>
              </a:ext>
            </a:extLst>
          </p:cNvPr>
          <p:cNvCxnSpPr>
            <a:cxnSpLocks/>
          </p:cNvCxnSpPr>
          <p:nvPr/>
        </p:nvCxnSpPr>
        <p:spPr>
          <a:xfrm>
            <a:off x="5509063" y="2128989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2E58FA4-77E1-7CC6-B528-65028A3E54E0}"/>
              </a:ext>
            </a:extLst>
          </p:cNvPr>
          <p:cNvCxnSpPr>
            <a:cxnSpLocks/>
          </p:cNvCxnSpPr>
          <p:nvPr/>
        </p:nvCxnSpPr>
        <p:spPr>
          <a:xfrm>
            <a:off x="5527351" y="2581631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C3CAB33-646E-F815-9A7D-3191B79E218F}"/>
              </a:ext>
            </a:extLst>
          </p:cNvPr>
          <p:cNvCxnSpPr>
            <a:cxnSpLocks/>
          </p:cNvCxnSpPr>
          <p:nvPr/>
        </p:nvCxnSpPr>
        <p:spPr>
          <a:xfrm>
            <a:off x="5515540" y="3557487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078A185-B088-5FA4-19C1-5A459857F687}"/>
              </a:ext>
            </a:extLst>
          </p:cNvPr>
          <p:cNvCxnSpPr>
            <a:cxnSpLocks/>
          </p:cNvCxnSpPr>
          <p:nvPr/>
        </p:nvCxnSpPr>
        <p:spPr>
          <a:xfrm>
            <a:off x="6377265" y="2113396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39348F0-5633-82D3-D8B3-210EB71014AA}"/>
              </a:ext>
            </a:extLst>
          </p:cNvPr>
          <p:cNvCxnSpPr>
            <a:cxnSpLocks/>
          </p:cNvCxnSpPr>
          <p:nvPr/>
        </p:nvCxnSpPr>
        <p:spPr>
          <a:xfrm>
            <a:off x="6394962" y="2572200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AE7D6DE-5319-B868-1437-03F6143D7B5E}"/>
              </a:ext>
            </a:extLst>
          </p:cNvPr>
          <p:cNvCxnSpPr>
            <a:cxnSpLocks/>
          </p:cNvCxnSpPr>
          <p:nvPr/>
        </p:nvCxnSpPr>
        <p:spPr>
          <a:xfrm>
            <a:off x="6375737" y="3545295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537BF72-2C7E-58AD-5FB5-1B80936CCC2F}"/>
              </a:ext>
            </a:extLst>
          </p:cNvPr>
          <p:cNvCxnSpPr>
            <a:cxnSpLocks/>
          </p:cNvCxnSpPr>
          <p:nvPr/>
        </p:nvCxnSpPr>
        <p:spPr>
          <a:xfrm>
            <a:off x="6930068" y="3548669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3696B76-78D9-DCD4-22D7-62F265504C99}"/>
              </a:ext>
            </a:extLst>
          </p:cNvPr>
          <p:cNvCxnSpPr>
            <a:cxnSpLocks/>
          </p:cNvCxnSpPr>
          <p:nvPr/>
        </p:nvCxnSpPr>
        <p:spPr>
          <a:xfrm flipV="1">
            <a:off x="6353518" y="2992774"/>
            <a:ext cx="221098" cy="4124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6D3B219-3B18-BC9C-E09C-6B53D29B8EEC}"/>
              </a:ext>
            </a:extLst>
          </p:cNvPr>
          <p:cNvCxnSpPr>
            <a:cxnSpLocks/>
          </p:cNvCxnSpPr>
          <p:nvPr/>
        </p:nvCxnSpPr>
        <p:spPr>
          <a:xfrm>
            <a:off x="6366428" y="3715450"/>
            <a:ext cx="189309" cy="5275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561C5E5-7415-7E12-F31C-30403A9626AF}"/>
              </a:ext>
            </a:extLst>
          </p:cNvPr>
          <p:cNvCxnSpPr>
            <a:cxnSpLocks/>
          </p:cNvCxnSpPr>
          <p:nvPr/>
        </p:nvCxnSpPr>
        <p:spPr>
          <a:xfrm>
            <a:off x="7722691" y="3552535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2384BD3-EDD8-E225-8A77-0339085AE1C1}"/>
              </a:ext>
            </a:extLst>
          </p:cNvPr>
          <p:cNvCxnSpPr>
            <a:cxnSpLocks/>
          </p:cNvCxnSpPr>
          <p:nvPr/>
        </p:nvCxnSpPr>
        <p:spPr>
          <a:xfrm flipV="1">
            <a:off x="7720656" y="3132998"/>
            <a:ext cx="198419" cy="2573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75CD1C8-3ED7-4C2D-C5B8-35245331E4DE}"/>
              </a:ext>
            </a:extLst>
          </p:cNvPr>
          <p:cNvCxnSpPr>
            <a:cxnSpLocks/>
          </p:cNvCxnSpPr>
          <p:nvPr/>
        </p:nvCxnSpPr>
        <p:spPr>
          <a:xfrm>
            <a:off x="7720656" y="3707018"/>
            <a:ext cx="182035" cy="1532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F2F2F1C-C487-4425-6DD9-24217C64642D}"/>
              </a:ext>
            </a:extLst>
          </p:cNvPr>
          <p:cNvCxnSpPr>
            <a:cxnSpLocks/>
          </p:cNvCxnSpPr>
          <p:nvPr/>
        </p:nvCxnSpPr>
        <p:spPr>
          <a:xfrm>
            <a:off x="8276125" y="3438236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EDFCC9D-C0EC-1D8D-E180-C397C38BE7C9}"/>
              </a:ext>
            </a:extLst>
          </p:cNvPr>
          <p:cNvCxnSpPr>
            <a:cxnSpLocks/>
          </p:cNvCxnSpPr>
          <p:nvPr/>
        </p:nvCxnSpPr>
        <p:spPr>
          <a:xfrm>
            <a:off x="9139116" y="3438236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069DD02C-6769-2278-01F5-265F8B798EC5}"/>
              </a:ext>
            </a:extLst>
          </p:cNvPr>
          <p:cNvSpPr txBox="1"/>
          <p:nvPr/>
        </p:nvSpPr>
        <p:spPr>
          <a:xfrm>
            <a:off x="297733" y="735320"/>
            <a:ext cx="11442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 my view, this is closer to genuine precision oncology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4C12EB19-CDD8-B776-0490-D2DF70F35097}"/>
              </a:ext>
            </a:extLst>
          </p:cNvPr>
          <p:cNvSpPr/>
          <p:nvPr/>
        </p:nvSpPr>
        <p:spPr>
          <a:xfrm>
            <a:off x="6657046" y="2287571"/>
            <a:ext cx="219456" cy="18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1C7471-E6DB-7B6D-E1CB-20E268420A6A}"/>
              </a:ext>
            </a:extLst>
          </p:cNvPr>
          <p:cNvSpPr/>
          <p:nvPr/>
        </p:nvSpPr>
        <p:spPr>
          <a:xfrm>
            <a:off x="5172662" y="2756469"/>
            <a:ext cx="212528" cy="16875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515E7C-15FE-BB1C-442B-9D5A383D719C}"/>
              </a:ext>
            </a:extLst>
          </p:cNvPr>
          <p:cNvSpPr/>
          <p:nvPr/>
        </p:nvSpPr>
        <p:spPr>
          <a:xfrm>
            <a:off x="5172147" y="4863383"/>
            <a:ext cx="212528" cy="108701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6080B2-763B-32D1-D9CA-0E22CAD7596C}"/>
              </a:ext>
            </a:extLst>
          </p:cNvPr>
          <p:cNvCxnSpPr/>
          <p:nvPr/>
        </p:nvCxnSpPr>
        <p:spPr>
          <a:xfrm>
            <a:off x="4175760" y="4289782"/>
            <a:ext cx="784860" cy="2560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9F99C3-113F-7AAD-62F3-E1A2EDBCDF1B}"/>
              </a:ext>
            </a:extLst>
          </p:cNvPr>
          <p:cNvCxnSpPr/>
          <p:nvPr/>
        </p:nvCxnSpPr>
        <p:spPr>
          <a:xfrm>
            <a:off x="4180167" y="4616109"/>
            <a:ext cx="784860" cy="2560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C227A7D-78F2-7132-B6F5-4E85E4394E14}"/>
              </a:ext>
            </a:extLst>
          </p:cNvPr>
          <p:cNvSpPr/>
          <p:nvPr/>
        </p:nvSpPr>
        <p:spPr>
          <a:xfrm>
            <a:off x="6658823" y="4512543"/>
            <a:ext cx="212528" cy="184273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A209C5-A2FC-CA56-F151-A0DEF35804D3}"/>
              </a:ext>
            </a:extLst>
          </p:cNvPr>
          <p:cNvSpPr/>
          <p:nvPr/>
        </p:nvSpPr>
        <p:spPr>
          <a:xfrm>
            <a:off x="6655013" y="4710601"/>
            <a:ext cx="219456" cy="18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2B7ECC-59E3-8D8A-C364-3EF9BB042A60}"/>
              </a:ext>
            </a:extLst>
          </p:cNvPr>
          <p:cNvSpPr/>
          <p:nvPr/>
        </p:nvSpPr>
        <p:spPr>
          <a:xfrm>
            <a:off x="6653236" y="4867168"/>
            <a:ext cx="212528" cy="108702"/>
          </a:xfrm>
          <a:prstGeom prst="roundRect">
            <a:avLst/>
          </a:prstGeom>
          <a:solidFill>
            <a:srgbClr val="00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9F8F4D-CD10-F199-3785-2E2DB1FC5E95}"/>
              </a:ext>
            </a:extLst>
          </p:cNvPr>
          <p:cNvSpPr txBox="1"/>
          <p:nvPr/>
        </p:nvSpPr>
        <p:spPr>
          <a:xfrm>
            <a:off x="5685572" y="4479336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4950FBC-1D59-4F2E-6BC3-A565A322687D}"/>
              </a:ext>
            </a:extLst>
          </p:cNvPr>
          <p:cNvCxnSpPr>
            <a:cxnSpLocks/>
          </p:cNvCxnSpPr>
          <p:nvPr/>
        </p:nvCxnSpPr>
        <p:spPr>
          <a:xfrm>
            <a:off x="5517037" y="4652693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3DE6AFF-DBEC-AC32-92E4-BCEE25E4B57F}"/>
              </a:ext>
            </a:extLst>
          </p:cNvPr>
          <p:cNvCxnSpPr>
            <a:cxnSpLocks/>
          </p:cNvCxnSpPr>
          <p:nvPr/>
        </p:nvCxnSpPr>
        <p:spPr>
          <a:xfrm>
            <a:off x="6385239" y="4637100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77ADAFF-6FC2-3DDA-D685-DA84F7E9C692}"/>
              </a:ext>
            </a:extLst>
          </p:cNvPr>
          <p:cNvSpPr txBox="1"/>
          <p:nvPr/>
        </p:nvSpPr>
        <p:spPr>
          <a:xfrm>
            <a:off x="5685572" y="4777128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Drug F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2FA114A-ACDB-9B2E-BB8E-27EA1DF6C082}"/>
              </a:ext>
            </a:extLst>
          </p:cNvPr>
          <p:cNvCxnSpPr>
            <a:cxnSpLocks/>
          </p:cNvCxnSpPr>
          <p:nvPr/>
        </p:nvCxnSpPr>
        <p:spPr>
          <a:xfrm>
            <a:off x="5517037" y="4950485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953F9EA-514B-56EA-4D81-6C4B88850A2A}"/>
              </a:ext>
            </a:extLst>
          </p:cNvPr>
          <p:cNvCxnSpPr>
            <a:cxnSpLocks/>
          </p:cNvCxnSpPr>
          <p:nvPr/>
        </p:nvCxnSpPr>
        <p:spPr>
          <a:xfrm>
            <a:off x="6385239" y="4934892"/>
            <a:ext cx="18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120DCF5-B9C8-2CD5-D3F0-707A472E13B5}"/>
              </a:ext>
            </a:extLst>
          </p:cNvPr>
          <p:cNvSpPr txBox="1"/>
          <p:nvPr/>
        </p:nvSpPr>
        <p:spPr>
          <a:xfrm>
            <a:off x="297733" y="5867896"/>
            <a:ext cx="11442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Iterative improvement, led by biological knowledge.</a:t>
            </a:r>
          </a:p>
        </p:txBody>
      </p:sp>
    </p:spTree>
    <p:extLst>
      <p:ext uri="{BB962C8B-B14F-4D97-AF65-F5344CB8AC3E}">
        <p14:creationId xmlns:p14="http://schemas.microsoft.com/office/powerpoint/2010/main" val="1104536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3F23E-9D20-0D5C-8CAE-F38DAC2B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3DB5A9-5390-B0BE-D557-FDDADB7521EA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097F2-90A2-898E-A50D-C786F9F3BC95}"/>
              </a:ext>
            </a:extLst>
          </p:cNvPr>
          <p:cNvSpPr txBox="1"/>
          <p:nvPr/>
        </p:nvSpPr>
        <p:spPr>
          <a:xfrm>
            <a:off x="0" y="32702"/>
            <a:ext cx="6056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Biological knowledge vs data brute force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25642D-EF73-37AA-12AC-66B247270989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36</a:t>
            </a:fld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C7817A-7E31-78A6-8F52-417D3B36A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32" y="809576"/>
            <a:ext cx="10042219" cy="353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E51046-7C8D-0AB3-CD15-9C89AD6A2519}"/>
              </a:ext>
            </a:extLst>
          </p:cNvPr>
          <p:cNvSpPr txBox="1"/>
          <p:nvPr/>
        </p:nvSpPr>
        <p:spPr>
          <a:xfrm>
            <a:off x="9525783" y="4424621"/>
            <a:ext cx="15807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0" i="0" u="sng" dirty="0">
                <a:effectLst/>
                <a:highlight>
                  <a:srgbClr val="FFFFFF"/>
                </a:highlight>
                <a:latin typeface="sohne"/>
                <a:hlinkClick r:id="rId3"/>
              </a:rPr>
              <a:t>https://xkcd.com/1831/</a:t>
            </a:r>
            <a:endParaRPr lang="en-GB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0964F1-1BFC-86AD-FEF5-14DDF4DC954C}"/>
              </a:ext>
            </a:extLst>
          </p:cNvPr>
          <p:cNvSpPr/>
          <p:nvPr/>
        </p:nvSpPr>
        <p:spPr>
          <a:xfrm>
            <a:off x="768485" y="807392"/>
            <a:ext cx="5327515" cy="38020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3E98B-EDDE-6770-A9EA-2EC1C24411C2}"/>
              </a:ext>
            </a:extLst>
          </p:cNvPr>
          <p:cNvSpPr txBox="1"/>
          <p:nvPr/>
        </p:nvSpPr>
        <p:spPr>
          <a:xfrm>
            <a:off x="1251044" y="4863360"/>
            <a:ext cx="5645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I’m not saying this</a:t>
            </a:r>
            <a:r>
              <a:rPr lang="en-GB" sz="2400" i="1" dirty="0">
                <a:solidFill>
                  <a:srgbClr val="FF0000"/>
                </a:solidFill>
              </a:rPr>
              <a:t> can’t</a:t>
            </a:r>
            <a:r>
              <a:rPr lang="en-GB" sz="2400" dirty="0">
                <a:solidFill>
                  <a:srgbClr val="FF0000"/>
                </a:solidFill>
              </a:rPr>
              <a:t> happen… but…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28F14E-55EF-3ECF-BEAE-3975A4A73BCE}"/>
              </a:ext>
            </a:extLst>
          </p:cNvPr>
          <p:cNvSpPr txBox="1"/>
          <p:nvPr/>
        </p:nvSpPr>
        <p:spPr>
          <a:xfrm>
            <a:off x="1251044" y="5578941"/>
            <a:ext cx="102665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If you assume c.100 gene/feature lists are the most informative, there are 10^253 combinations of expressed genes, each generating 5-10 clusters of tumours…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674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E673-D847-D1CA-920F-A5F46184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618CAE-4A86-DD71-8F62-EC7F64E2F9DF}"/>
              </a:ext>
            </a:extLst>
          </p:cNvPr>
          <p:cNvSpPr/>
          <p:nvPr/>
        </p:nvSpPr>
        <p:spPr>
          <a:xfrm>
            <a:off x="478" y="-910"/>
            <a:ext cx="12192000" cy="54665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3A83D-0A07-8FAE-C22B-5B1370965FE6}"/>
              </a:ext>
            </a:extLst>
          </p:cNvPr>
          <p:cNvSpPr txBox="1"/>
          <p:nvPr/>
        </p:nvSpPr>
        <p:spPr>
          <a:xfrm>
            <a:off x="0" y="32702"/>
            <a:ext cx="30463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Acknowledgements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9A2312-7149-DDEA-566F-BBA02CF1310B}"/>
              </a:ext>
            </a:extLst>
          </p:cNvPr>
          <p:cNvSpPr txBox="1"/>
          <p:nvPr/>
        </p:nvSpPr>
        <p:spPr>
          <a:xfrm>
            <a:off x="11378242" y="32702"/>
            <a:ext cx="724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5B248A6-CE02-415A-814E-8D07FF3D7B7F}" type="slidenum">
              <a:rPr lang="en-GB" sz="2400" smtClean="0">
                <a:solidFill>
                  <a:schemeClr val="bg1"/>
                </a:solidFill>
              </a:rPr>
              <a:t>37</a:t>
            </a:fld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3C23-220A-203F-B450-541B70B88E8C}"/>
              </a:ext>
            </a:extLst>
          </p:cNvPr>
          <p:cNvSpPr txBox="1"/>
          <p:nvPr/>
        </p:nvSpPr>
        <p:spPr>
          <a:xfrm>
            <a:off x="419880" y="1721355"/>
            <a:ext cx="2626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Vlad Ungureanu</a:t>
            </a:r>
          </a:p>
          <a:p>
            <a:r>
              <a:rPr lang="en-GB" dirty="0"/>
              <a:t>Richard Gawne</a:t>
            </a:r>
          </a:p>
          <a:p>
            <a:r>
              <a:rPr lang="en-GB" dirty="0"/>
              <a:t>Marcello Beltrami</a:t>
            </a:r>
          </a:p>
          <a:p>
            <a:r>
              <a:rPr lang="en-GB" dirty="0"/>
              <a:t>Jessie Irvine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774568-217B-F115-5F76-C4AE82CD0DE7}"/>
              </a:ext>
            </a:extLst>
          </p:cNvPr>
          <p:cNvSpPr txBox="1"/>
          <p:nvPr/>
        </p:nvSpPr>
        <p:spPr>
          <a:xfrm>
            <a:off x="410151" y="3006538"/>
            <a:ext cx="26264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Simon Baker</a:t>
            </a:r>
          </a:p>
          <a:p>
            <a:r>
              <a:rPr lang="en-GB" dirty="0"/>
              <a:t>Jenny Baker</a:t>
            </a:r>
          </a:p>
          <a:p>
            <a:r>
              <a:rPr lang="en-GB" dirty="0"/>
              <a:t>Claire Varley</a:t>
            </a:r>
          </a:p>
          <a:p>
            <a:r>
              <a:rPr lang="en-GB" dirty="0"/>
              <a:t>Ros Duke</a:t>
            </a:r>
          </a:p>
          <a:p>
            <a:r>
              <a:rPr lang="en-GB" dirty="0"/>
              <a:t>Jo Pearson</a:t>
            </a:r>
          </a:p>
          <a:p>
            <a:r>
              <a:rPr lang="en-GB" dirty="0"/>
              <a:t>Jennifer Southgate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A6A7C0-45A9-E69B-3E2E-AAB6DA1C3EA3}"/>
              </a:ext>
            </a:extLst>
          </p:cNvPr>
          <p:cNvSpPr txBox="1"/>
          <p:nvPr/>
        </p:nvSpPr>
        <p:spPr>
          <a:xfrm>
            <a:off x="419879" y="4686768"/>
            <a:ext cx="2626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Steve Smith</a:t>
            </a:r>
          </a:p>
          <a:p>
            <a:r>
              <a:rPr lang="en-GB" dirty="0"/>
              <a:t>David Halliday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CC1DA6-1AFA-BCBB-47B9-AB5117F323CF}"/>
              </a:ext>
            </a:extLst>
          </p:cNvPr>
          <p:cNvGrpSpPr/>
          <p:nvPr/>
        </p:nvGrpSpPr>
        <p:grpSpPr>
          <a:xfrm>
            <a:off x="9809905" y="6012167"/>
            <a:ext cx="2292764" cy="739580"/>
            <a:chOff x="1988224" y="5631176"/>
            <a:chExt cx="3637852" cy="110348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415367D-E0FD-203E-7C60-434C42018DC9}"/>
                </a:ext>
              </a:extLst>
            </p:cNvPr>
            <p:cNvSpPr/>
            <p:nvPr/>
          </p:nvSpPr>
          <p:spPr>
            <a:xfrm>
              <a:off x="2110902" y="5680953"/>
              <a:ext cx="3380983" cy="10047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8E4DF22-8715-7277-4FCF-F41D00E9B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8224" y="5631176"/>
              <a:ext cx="3637852" cy="1103482"/>
            </a:xfrm>
            <a:prstGeom prst="rect">
              <a:avLst/>
            </a:prstGeom>
          </p:spPr>
        </p:pic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D076767A-1043-2B68-B10C-4BD6B387A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" y="589534"/>
            <a:ext cx="2309825" cy="106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50BB568-C3AB-F59F-F9B4-98A0A73DFC5B}"/>
              </a:ext>
            </a:extLst>
          </p:cNvPr>
          <p:cNvSpPr txBox="1"/>
          <p:nvPr/>
        </p:nvSpPr>
        <p:spPr>
          <a:xfrm>
            <a:off x="3526029" y="1499696"/>
            <a:ext cx="262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Maggie Knowles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174C96-03C7-E223-A8D9-088A0F1863FF}"/>
              </a:ext>
            </a:extLst>
          </p:cNvPr>
          <p:cNvSpPr txBox="1"/>
          <p:nvPr/>
        </p:nvSpPr>
        <p:spPr>
          <a:xfrm>
            <a:off x="6471737" y="5272775"/>
            <a:ext cx="262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Pontus Eriksson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D0436CC-5BDA-0DBD-D2E5-2674F2F41F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76" b="35156"/>
          <a:stretch>
            <a:fillRect/>
          </a:stretch>
        </p:blipFill>
        <p:spPr>
          <a:xfrm>
            <a:off x="3492364" y="730729"/>
            <a:ext cx="2626467" cy="75033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190DFBA-45F2-6A21-7CF9-94B4986F0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595" y="3947931"/>
            <a:ext cx="1067770" cy="128359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93B788C-CAA3-806A-7DA2-469ED5232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737" y="2316096"/>
            <a:ext cx="1725345" cy="114134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9310D11-F11F-9A44-385B-0E7353928405}"/>
              </a:ext>
            </a:extLst>
          </p:cNvPr>
          <p:cNvSpPr txBox="1"/>
          <p:nvPr/>
        </p:nvSpPr>
        <p:spPr>
          <a:xfrm>
            <a:off x="6422852" y="3495966"/>
            <a:ext cx="262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David McConkey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6B8816-2450-59E2-DF67-26030C479281}"/>
              </a:ext>
            </a:extLst>
          </p:cNvPr>
          <p:cNvSpPr txBox="1"/>
          <p:nvPr/>
        </p:nvSpPr>
        <p:spPr>
          <a:xfrm>
            <a:off x="6632178" y="1486657"/>
            <a:ext cx="2626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Lars Dyrskjøt</a:t>
            </a:r>
          </a:p>
          <a:p>
            <a:r>
              <a:rPr lang="en-GB" dirty="0"/>
              <a:t>Philippe Lamy</a:t>
            </a:r>
          </a:p>
        </p:txBody>
      </p:sp>
      <p:pic>
        <p:nvPicPr>
          <p:cNvPr id="6154" name="Picture 10">
            <a:extLst>
              <a:ext uri="{FF2B5EF4-FFF2-40B4-BE49-F238E27FC236}">
                <a16:creationId xmlns:a16="http://schemas.microsoft.com/office/drawing/2014/main" id="{764F688C-2F08-5C3D-880C-282367DA1E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75" b="26223"/>
          <a:stretch>
            <a:fillRect/>
          </a:stretch>
        </p:blipFill>
        <p:spPr bwMode="auto">
          <a:xfrm>
            <a:off x="6720947" y="741485"/>
            <a:ext cx="2932095" cy="73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E91B0760-B449-185F-FB2A-F8305C748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33" y="6022160"/>
            <a:ext cx="670423" cy="67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2CCFE6-A69D-02FA-E271-E00A13C0C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64604" y="6099189"/>
            <a:ext cx="2486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Viking</a:t>
            </a:r>
            <a:endParaRPr lang="en-GB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6E52F1-C850-E9D2-BFD5-394E5480D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7112" y="6366989"/>
            <a:ext cx="2205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Research Compute Cluster</a:t>
            </a:r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10E26828-6BEF-4942-8C16-82EFFE5E6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440" y="5933611"/>
            <a:ext cx="1551071" cy="59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E7BE147-1ADF-D69D-3868-56E66A55E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61815" y="6468628"/>
            <a:ext cx="1077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#25297</a:t>
            </a:r>
            <a:endParaRPr lang="en-GB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D21AF8-563A-754C-EBAB-5EBCD3F301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191" y="6084499"/>
            <a:ext cx="646331" cy="646331"/>
          </a:xfrm>
          <a:prstGeom prst="rect">
            <a:avLst/>
          </a:prstGeom>
        </p:spPr>
      </p:pic>
      <p:pic>
        <p:nvPicPr>
          <p:cNvPr id="15" name="Picture 14" descr="University of Sheffield A Levels Employer Skills Academy || The Sheffield  College">
            <a:extLst>
              <a:ext uri="{FF2B5EF4-FFF2-40B4-BE49-F238E27FC236}">
                <a16:creationId xmlns:a16="http://schemas.microsoft.com/office/drawing/2014/main" id="{CFADADEC-4E18-0699-A1B5-9DBF79EF3E0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344" t="35550" r="4644" b="35849"/>
          <a:stretch>
            <a:fillRect/>
          </a:stretch>
        </p:blipFill>
        <p:spPr>
          <a:xfrm>
            <a:off x="3535440" y="2480574"/>
            <a:ext cx="2319799" cy="7538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7496DF-4D6E-4DFE-57D4-BA054E3F61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521" y="5871423"/>
            <a:ext cx="1761669" cy="7940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48B71ED-852E-6683-DA47-F98E05D7DF68}"/>
              </a:ext>
            </a:extLst>
          </p:cNvPr>
          <p:cNvSpPr txBox="1"/>
          <p:nvPr/>
        </p:nvSpPr>
        <p:spPr>
          <a:xfrm>
            <a:off x="3440944" y="3255192"/>
            <a:ext cx="2626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Jim Catto</a:t>
            </a:r>
          </a:p>
          <a:p>
            <a:r>
              <a:rPr lang="en-GB" dirty="0"/>
              <a:t>Jon Griffin</a:t>
            </a:r>
          </a:p>
          <a:p>
            <a:r>
              <a:rPr lang="en-GB" dirty="0"/>
              <a:t>Lewis Quayle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BFBF005-83E9-C2EF-DABF-1328C632208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2500" t="32089" r="27154" b="32481"/>
          <a:stretch>
            <a:fillRect/>
          </a:stretch>
        </p:blipFill>
        <p:spPr>
          <a:xfrm>
            <a:off x="3471111" y="4417662"/>
            <a:ext cx="2605214" cy="67747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71FF9E5-9DCB-BA9B-D289-859088C9EC2B}"/>
              </a:ext>
            </a:extLst>
          </p:cNvPr>
          <p:cNvSpPr txBox="1"/>
          <p:nvPr/>
        </p:nvSpPr>
        <p:spPr>
          <a:xfrm>
            <a:off x="3440943" y="5095138"/>
            <a:ext cx="262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Rik Bryan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51D7A73-21A4-9AD9-B623-49D2DE161B5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501" y="4290715"/>
            <a:ext cx="3500394" cy="880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BC0E09-BD45-E24E-D6A5-3E2ED38F231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428" y="5222189"/>
            <a:ext cx="2626467" cy="63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86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19259</TotalTime>
  <Words>1410</Words>
  <Application>Microsoft Office PowerPoint</Application>
  <PresentationFormat>Widescreen</PresentationFormat>
  <Paragraphs>226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sohne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Mason</dc:creator>
  <cp:lastModifiedBy>Andrew Mason</cp:lastModifiedBy>
  <cp:revision>510</cp:revision>
  <dcterms:created xsi:type="dcterms:W3CDTF">2020-04-27T11:03:04Z</dcterms:created>
  <dcterms:modified xsi:type="dcterms:W3CDTF">2026-10-21T19:41:46Z</dcterms:modified>
</cp:coreProperties>
</file>